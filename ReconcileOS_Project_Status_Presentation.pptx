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DF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0" d="100"/>
          <a:sy n="70" d="100"/>
        </p:scale>
        <p:origin x="118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4B398"/>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
          </a:xfrm>
          <a:prstGeom prst="rect">
            <a:avLst/>
          </a:prstGeom>
          <a:solidFill>
            <a:srgbClr val="786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40080" y="1463040"/>
            <a:ext cx="594360" cy="594360"/>
          </a:xfrm>
          <a:prstGeom prst="roundRect">
            <a:avLst/>
          </a:prstGeom>
          <a:solidFill>
            <a:srgbClr val="786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04088" y="1536192"/>
            <a:ext cx="502920" cy="457200"/>
          </a:xfrm>
          <a:prstGeom prst="rect">
            <a:avLst/>
          </a:prstGeom>
          <a:noFill/>
        </p:spPr>
        <p:txBody>
          <a:bodyPr wrap="square">
            <a:spAutoFit/>
          </a:bodyPr>
          <a:lstStyle/>
          <a:p>
            <a:pPr algn="ctr"/>
            <a:r>
              <a:rPr sz="2600" b="1" i="0">
                <a:solidFill>
                  <a:srgbClr val="FFFFFF"/>
                </a:solidFill>
                <a:latin typeface="Calibri"/>
              </a:rPr>
              <a:t>⛊</a:t>
            </a:r>
          </a:p>
        </p:txBody>
      </p:sp>
      <p:sp>
        <p:nvSpPr>
          <p:cNvPr id="5" name="TextBox 4"/>
          <p:cNvSpPr txBox="1"/>
          <p:nvPr/>
        </p:nvSpPr>
        <p:spPr>
          <a:xfrm>
            <a:off x="640080" y="2286000"/>
            <a:ext cx="7772400" cy="731520"/>
          </a:xfrm>
          <a:prstGeom prst="rect">
            <a:avLst/>
          </a:prstGeom>
          <a:noFill/>
        </p:spPr>
        <p:txBody>
          <a:bodyPr wrap="square">
            <a:spAutoFit/>
          </a:bodyPr>
          <a:lstStyle/>
          <a:p>
            <a:pPr algn="l"/>
            <a:r>
              <a:rPr sz="4000" b="1" i="0">
                <a:solidFill>
                  <a:srgbClr val="FFFFFF"/>
                </a:solidFill>
                <a:latin typeface="Calibri"/>
              </a:rPr>
              <a:t>ReconcileOS</a:t>
            </a:r>
          </a:p>
        </p:txBody>
      </p:sp>
      <p:sp>
        <p:nvSpPr>
          <p:cNvPr id="6" name="TextBox 5"/>
          <p:cNvSpPr txBox="1"/>
          <p:nvPr/>
        </p:nvSpPr>
        <p:spPr>
          <a:xfrm>
            <a:off x="640080" y="2971800"/>
            <a:ext cx="7772400" cy="502920"/>
          </a:xfrm>
          <a:prstGeom prst="rect">
            <a:avLst/>
          </a:prstGeom>
          <a:noFill/>
        </p:spPr>
        <p:txBody>
          <a:bodyPr wrap="square">
            <a:spAutoFit/>
          </a:bodyPr>
          <a:lstStyle/>
          <a:p>
            <a:pPr algn="l"/>
            <a:r>
              <a:rPr sz="1600" b="0" i="0">
                <a:solidFill>
                  <a:srgbClr val="EAE4F4"/>
                </a:solidFill>
                <a:latin typeface="Calibri"/>
              </a:rPr>
              <a:t>A Continuous Integrity and Self-Healing System for Connected Applications</a:t>
            </a:r>
          </a:p>
        </p:txBody>
      </p:sp>
      <p:sp>
        <p:nvSpPr>
          <p:cNvPr id="7" name="Rectangle 6"/>
          <p:cNvSpPr/>
          <p:nvPr/>
        </p:nvSpPr>
        <p:spPr>
          <a:xfrm>
            <a:off x="640080" y="3657600"/>
            <a:ext cx="2286000" cy="25400"/>
          </a:xfrm>
          <a:prstGeom prst="rect">
            <a:avLst/>
          </a:prstGeom>
          <a:solidFill>
            <a:srgbClr val="EAE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3931920"/>
            <a:ext cx="7315200" cy="292388"/>
          </a:xfrm>
          <a:prstGeom prst="rect">
            <a:avLst/>
          </a:prstGeom>
          <a:noFill/>
        </p:spPr>
        <p:txBody>
          <a:bodyPr wrap="square">
            <a:spAutoFit/>
          </a:bodyPr>
          <a:lstStyle/>
          <a:p>
            <a:pPr algn="l"/>
            <a:r>
              <a:rPr sz="1300" b="0" i="0" dirty="0" err="1">
                <a:solidFill>
                  <a:srgbClr val="FFFDF9"/>
                </a:solidFill>
                <a:latin typeface="Calibri"/>
              </a:rPr>
              <a:t>B.Tech</a:t>
            </a:r>
            <a:r>
              <a:rPr sz="1300" b="0" i="0" dirty="0">
                <a:solidFill>
                  <a:srgbClr val="FFFDF9"/>
                </a:solidFill>
                <a:latin typeface="Calibri"/>
              </a:rPr>
              <a:t> Computer Science and Engineering — </a:t>
            </a:r>
            <a:r>
              <a:rPr lang="en-US" sz="1300" dirty="0">
                <a:solidFill>
                  <a:srgbClr val="FFFDF9"/>
                </a:solidFill>
                <a:latin typeface="Calibri"/>
              </a:rPr>
              <a:t>Software Engineering</a:t>
            </a:r>
            <a:r>
              <a:rPr sz="1300" b="0" i="0" dirty="0">
                <a:solidFill>
                  <a:srgbClr val="FFFDF9"/>
                </a:solidFill>
                <a:latin typeface="Calibri"/>
              </a:rPr>
              <a:t> Project</a:t>
            </a:r>
          </a:p>
        </p:txBody>
      </p:sp>
      <p:sp>
        <p:nvSpPr>
          <p:cNvPr id="9" name="TextBox 8"/>
          <p:cNvSpPr txBox="1"/>
          <p:nvPr/>
        </p:nvSpPr>
        <p:spPr>
          <a:xfrm>
            <a:off x="640080" y="4389120"/>
            <a:ext cx="7315200" cy="400110"/>
          </a:xfrm>
          <a:prstGeom prst="rect">
            <a:avLst/>
          </a:prstGeom>
          <a:noFill/>
        </p:spPr>
        <p:txBody>
          <a:bodyPr wrap="square">
            <a:spAutoFit/>
          </a:bodyPr>
          <a:lstStyle/>
          <a:p>
            <a:pPr algn="l"/>
            <a:r>
              <a:rPr sz="2000" b="0" i="0" dirty="0">
                <a:solidFill>
                  <a:srgbClr val="EDE0C8"/>
                </a:solidFill>
                <a:latin typeface="Calibri"/>
              </a:rPr>
              <a:t>Name: </a:t>
            </a:r>
            <a:r>
              <a:rPr lang="en-US" sz="2000" dirty="0">
                <a:solidFill>
                  <a:srgbClr val="EDE0C8"/>
                </a:solidFill>
                <a:latin typeface="Calibri"/>
              </a:rPr>
              <a:t>Anirudh Vijayan &amp; Moumin Zaara</a:t>
            </a:r>
            <a:endParaRPr sz="2000" b="0" i="0" dirty="0">
              <a:solidFill>
                <a:srgbClr val="EDE0C8"/>
              </a:solidFill>
              <a:latin typeface="Calibri"/>
            </a:endParaRPr>
          </a:p>
        </p:txBody>
      </p:sp>
      <p:sp>
        <p:nvSpPr>
          <p:cNvPr id="10" name="TextBox 9"/>
          <p:cNvSpPr txBox="1"/>
          <p:nvPr/>
        </p:nvSpPr>
        <p:spPr>
          <a:xfrm>
            <a:off x="640080" y="4963070"/>
            <a:ext cx="7315200" cy="400110"/>
          </a:xfrm>
          <a:prstGeom prst="rect">
            <a:avLst/>
          </a:prstGeom>
          <a:noFill/>
        </p:spPr>
        <p:txBody>
          <a:bodyPr wrap="square">
            <a:spAutoFit/>
          </a:bodyPr>
          <a:lstStyle/>
          <a:p>
            <a:pPr algn="l"/>
            <a:r>
              <a:rPr sz="2000" b="0" i="0" dirty="0">
                <a:solidFill>
                  <a:srgbClr val="EDE0C8"/>
                </a:solidFill>
                <a:latin typeface="Calibri"/>
              </a:rPr>
              <a:t>Registration No</a:t>
            </a:r>
            <a:r>
              <a:rPr lang="en-US" sz="2000" b="0" i="0" dirty="0">
                <a:solidFill>
                  <a:srgbClr val="EDE0C8"/>
                </a:solidFill>
                <a:latin typeface="Calibri"/>
              </a:rPr>
              <a:t>: 24BRS1202 &amp; 24BRS1155</a:t>
            </a:r>
            <a:endParaRPr sz="2000" b="0" i="0" dirty="0">
              <a:solidFill>
                <a:srgbClr val="EDE0C8"/>
              </a:solidFill>
              <a:latin typeface="Calibri"/>
            </a:endParaRPr>
          </a:p>
        </p:txBody>
      </p:sp>
      <p:sp>
        <p:nvSpPr>
          <p:cNvPr id="13" name="Rectangle 12"/>
          <p:cNvSpPr/>
          <p:nvPr/>
        </p:nvSpPr>
        <p:spPr>
          <a:xfrm>
            <a:off x="0" y="6748272"/>
            <a:ext cx="9144000" cy="109728"/>
          </a:xfrm>
          <a:prstGeom prst="rect">
            <a:avLst/>
          </a:prstGeom>
          <a:solidFill>
            <a:srgbClr val="786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0E8"/>
        </a:solidFill>
        <a:effectLst/>
      </p:bgPr>
    </p:bg>
    <p:spTree>
      <p:nvGrpSpPr>
        <p:cNvPr id="1" name=""/>
        <p:cNvGrpSpPr/>
        <p:nvPr/>
      </p:nvGrpSpPr>
      <p:grpSpPr>
        <a:xfrm>
          <a:off x="0" y="0"/>
          <a:ext cx="0" cy="0"/>
          <a:chOff x="0" y="0"/>
          <a:chExt cx="0" cy="0"/>
        </a:xfrm>
      </p:grpSpPr>
      <p:sp>
        <p:nvSpPr>
          <p:cNvPr id="2" name="Rectangle 1"/>
          <p:cNvSpPr/>
          <p:nvPr/>
        </p:nvSpPr>
        <p:spPr>
          <a:xfrm>
            <a:off x="457200" y="411480"/>
            <a:ext cx="201168" cy="457200"/>
          </a:xfrm>
          <a:prstGeom prst="rect">
            <a:avLst/>
          </a:prstGeom>
          <a:solidFill>
            <a:srgbClr val="786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320040"/>
            <a:ext cx="7315200" cy="502920"/>
          </a:xfrm>
          <a:prstGeom prst="rect">
            <a:avLst/>
          </a:prstGeom>
          <a:noFill/>
        </p:spPr>
        <p:txBody>
          <a:bodyPr wrap="square">
            <a:spAutoFit/>
          </a:bodyPr>
          <a:lstStyle/>
          <a:p>
            <a:pPr algn="l"/>
            <a:r>
              <a:rPr sz="2200" b="1" i="0">
                <a:solidFill>
                  <a:srgbClr val="332F3A"/>
                </a:solidFill>
                <a:latin typeface="Calibri"/>
              </a:rPr>
              <a:t>Problem Statement</a:t>
            </a:r>
          </a:p>
        </p:txBody>
      </p:sp>
      <p:sp>
        <p:nvSpPr>
          <p:cNvPr id="4" name="TextBox 3"/>
          <p:cNvSpPr txBox="1"/>
          <p:nvPr/>
        </p:nvSpPr>
        <p:spPr>
          <a:xfrm>
            <a:off x="822960" y="749808"/>
            <a:ext cx="7315200" cy="320040"/>
          </a:xfrm>
          <a:prstGeom prst="rect">
            <a:avLst/>
          </a:prstGeom>
          <a:noFill/>
        </p:spPr>
        <p:txBody>
          <a:bodyPr wrap="square">
            <a:spAutoFit/>
          </a:bodyPr>
          <a:lstStyle/>
          <a:p>
            <a:pPr algn="l"/>
            <a:r>
              <a:rPr sz="1100" b="0" i="0">
                <a:solidFill>
                  <a:srgbClr val="7E7684"/>
                </a:solidFill>
                <a:latin typeface="Calibri"/>
              </a:rPr>
              <a:t>Why authorization drift is a real and growing security concern</a:t>
            </a:r>
          </a:p>
        </p:txBody>
      </p:sp>
      <p:sp>
        <p:nvSpPr>
          <p:cNvPr id="5" name="TextBox 4"/>
          <p:cNvSpPr txBox="1"/>
          <p:nvPr/>
        </p:nvSpPr>
        <p:spPr>
          <a:xfrm>
            <a:off x="457200" y="6400800"/>
            <a:ext cx="7772400" cy="320040"/>
          </a:xfrm>
          <a:prstGeom prst="rect">
            <a:avLst/>
          </a:prstGeom>
          <a:noFill/>
        </p:spPr>
        <p:txBody>
          <a:bodyPr wrap="square">
            <a:spAutoFit/>
          </a:bodyPr>
          <a:lstStyle/>
          <a:p>
            <a:pPr>
              <a:defRPr sz="800">
                <a:solidFill>
                  <a:srgbClr val="7E7684"/>
                </a:solidFill>
                <a:latin typeface="Calibri"/>
              </a:defRPr>
            </a:pPr>
            <a:r>
              <a:t>ReconcileOS — Continuous Integrity Platform  |  Slide 2</a:t>
            </a:r>
          </a:p>
        </p:txBody>
      </p:sp>
      <p:sp>
        <p:nvSpPr>
          <p:cNvPr id="6" name="Rectangle 5"/>
          <p:cNvSpPr/>
          <p:nvPr/>
        </p:nvSpPr>
        <p:spPr>
          <a:xfrm>
            <a:off x="457200" y="6327648"/>
            <a:ext cx="8229600" cy="19050"/>
          </a:xfrm>
          <a:prstGeom prst="rect">
            <a:avLst/>
          </a:prstGeom>
          <a:solidFill>
            <a:srgbClr val="DED5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48640" y="1206231"/>
            <a:ext cx="8138160" cy="4280170"/>
          </a:xfrm>
          <a:prstGeom prst="roundRect">
            <a:avLst>
              <a:gd name="adj" fmla="val 5000"/>
            </a:avLst>
          </a:prstGeom>
          <a:solidFill>
            <a:srgbClr val="FFFDF9"/>
          </a:solidFill>
          <a:ln w="12700">
            <a:solidFill>
              <a:srgbClr val="DED5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spcAft>
                <a:spcPts val="600"/>
              </a:spcAft>
            </a:pPr>
            <a:r>
              <a:rPr lang="en-US" sz="1200" b="1" dirty="0">
                <a:solidFill>
                  <a:srgbClr val="7865A5"/>
                </a:solidFill>
              </a:rPr>
              <a:t>▸ </a:t>
            </a:r>
            <a:r>
              <a:rPr lang="en-US" dirty="0">
                <a:solidFill>
                  <a:srgbClr val="332F3A"/>
                </a:solidFill>
              </a:rPr>
              <a:t>When an employee leaves an organization, their HR status is updated — but downstream systems like VPN, GitHub, Cloud IAM, and Slack often retain active access.</a:t>
            </a:r>
          </a:p>
          <a:p>
            <a:pPr>
              <a:spcAft>
                <a:spcPts val="600"/>
              </a:spcAft>
            </a:pPr>
            <a:r>
              <a:rPr lang="en-US" b="1" dirty="0">
                <a:solidFill>
                  <a:srgbClr val="7865A5"/>
                </a:solidFill>
              </a:rPr>
              <a:t>▸ </a:t>
            </a:r>
            <a:r>
              <a:rPr lang="en-US" dirty="0">
                <a:solidFill>
                  <a:srgbClr val="332F3A"/>
                </a:solidFill>
              </a:rPr>
              <a:t>This creates authorization drift: a gap between intended access (revoked) and actual access (still active).</a:t>
            </a:r>
          </a:p>
          <a:p>
            <a:pPr>
              <a:spcAft>
                <a:spcPts val="600"/>
              </a:spcAft>
            </a:pPr>
            <a:r>
              <a:rPr lang="en-US" b="1" dirty="0">
                <a:solidFill>
                  <a:srgbClr val="7865A5"/>
                </a:solidFill>
              </a:rPr>
              <a:t>▸ </a:t>
            </a:r>
            <a:r>
              <a:rPr lang="en-US" dirty="0">
                <a:solidFill>
                  <a:srgbClr val="332F3A"/>
                </a:solidFill>
              </a:rPr>
              <a:t>Causes include delayed synchronization, missed webhook events, manual processes, and lack of continuous monitoring.</a:t>
            </a:r>
          </a:p>
          <a:p>
            <a:pPr>
              <a:spcAft>
                <a:spcPts val="600"/>
              </a:spcAft>
            </a:pPr>
            <a:r>
              <a:rPr lang="en-US" b="1" dirty="0">
                <a:solidFill>
                  <a:srgbClr val="7865A5"/>
                </a:solidFill>
              </a:rPr>
              <a:t>▸ </a:t>
            </a:r>
            <a:r>
              <a:rPr lang="en-US" dirty="0">
                <a:solidFill>
                  <a:srgbClr val="332F3A"/>
                </a:solidFill>
              </a:rPr>
              <a:t>Organizations rely on periodic manual audits, which are slow, error-prone, and do not detect drift in real time.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0E8"/>
        </a:solidFill>
        <a:effectLst/>
      </p:bgPr>
    </p:bg>
    <p:spTree>
      <p:nvGrpSpPr>
        <p:cNvPr id="1" name=""/>
        <p:cNvGrpSpPr/>
        <p:nvPr/>
      </p:nvGrpSpPr>
      <p:grpSpPr>
        <a:xfrm>
          <a:off x="0" y="0"/>
          <a:ext cx="0" cy="0"/>
          <a:chOff x="0" y="0"/>
          <a:chExt cx="0" cy="0"/>
        </a:xfrm>
      </p:grpSpPr>
      <p:sp>
        <p:nvSpPr>
          <p:cNvPr id="2" name="Rectangle 1"/>
          <p:cNvSpPr/>
          <p:nvPr/>
        </p:nvSpPr>
        <p:spPr>
          <a:xfrm>
            <a:off x="457200" y="411480"/>
            <a:ext cx="201168" cy="457200"/>
          </a:xfrm>
          <a:prstGeom prst="rect">
            <a:avLst/>
          </a:prstGeom>
          <a:solidFill>
            <a:srgbClr val="786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320040"/>
            <a:ext cx="7315200" cy="502920"/>
          </a:xfrm>
          <a:prstGeom prst="rect">
            <a:avLst/>
          </a:prstGeom>
          <a:noFill/>
        </p:spPr>
        <p:txBody>
          <a:bodyPr wrap="square">
            <a:spAutoFit/>
          </a:bodyPr>
          <a:lstStyle/>
          <a:p>
            <a:pPr algn="l"/>
            <a:r>
              <a:rPr sz="2200" b="1" i="0">
                <a:solidFill>
                  <a:srgbClr val="332F3A"/>
                </a:solidFill>
                <a:latin typeface="Calibri"/>
              </a:rPr>
              <a:t>Proposed Solution &amp; Objectives</a:t>
            </a:r>
          </a:p>
        </p:txBody>
      </p:sp>
      <p:sp>
        <p:nvSpPr>
          <p:cNvPr id="4" name="TextBox 3"/>
          <p:cNvSpPr txBox="1"/>
          <p:nvPr/>
        </p:nvSpPr>
        <p:spPr>
          <a:xfrm>
            <a:off x="822960" y="749808"/>
            <a:ext cx="7315200" cy="320040"/>
          </a:xfrm>
          <a:prstGeom prst="rect">
            <a:avLst/>
          </a:prstGeom>
          <a:noFill/>
        </p:spPr>
        <p:txBody>
          <a:bodyPr wrap="square">
            <a:spAutoFit/>
          </a:bodyPr>
          <a:lstStyle/>
          <a:p>
            <a:pPr algn="l"/>
            <a:r>
              <a:rPr sz="1100" b="0" i="0">
                <a:solidFill>
                  <a:srgbClr val="7E7684"/>
                </a:solidFill>
                <a:latin typeface="Calibri"/>
              </a:rPr>
              <a:t>ReconcileOS — Continuous access integrity enforcement</a:t>
            </a:r>
          </a:p>
        </p:txBody>
      </p:sp>
      <p:sp>
        <p:nvSpPr>
          <p:cNvPr id="5" name="TextBox 4"/>
          <p:cNvSpPr txBox="1"/>
          <p:nvPr/>
        </p:nvSpPr>
        <p:spPr>
          <a:xfrm>
            <a:off x="457200" y="6400800"/>
            <a:ext cx="7772400" cy="320040"/>
          </a:xfrm>
          <a:prstGeom prst="rect">
            <a:avLst/>
          </a:prstGeom>
          <a:noFill/>
        </p:spPr>
        <p:txBody>
          <a:bodyPr wrap="square">
            <a:spAutoFit/>
          </a:bodyPr>
          <a:lstStyle/>
          <a:p>
            <a:pPr>
              <a:defRPr sz="800">
                <a:solidFill>
                  <a:srgbClr val="7E7684"/>
                </a:solidFill>
                <a:latin typeface="Calibri"/>
              </a:defRPr>
            </a:pPr>
            <a:r>
              <a:t>ReconcileOS — Continuous Integrity Platform  |  Slide 3</a:t>
            </a:r>
          </a:p>
        </p:txBody>
      </p:sp>
      <p:sp>
        <p:nvSpPr>
          <p:cNvPr id="6" name="Rectangle 5"/>
          <p:cNvSpPr/>
          <p:nvPr/>
        </p:nvSpPr>
        <p:spPr>
          <a:xfrm>
            <a:off x="457200" y="6327648"/>
            <a:ext cx="8229600" cy="19050"/>
          </a:xfrm>
          <a:prstGeom prst="rect">
            <a:avLst/>
          </a:prstGeom>
          <a:solidFill>
            <a:srgbClr val="DED5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234440"/>
            <a:ext cx="8046720" cy="1005840"/>
          </a:xfrm>
          <a:prstGeom prst="roundRect">
            <a:avLst>
              <a:gd name="adj" fmla="val 5000"/>
            </a:avLst>
          </a:prstGeom>
          <a:solidFill>
            <a:srgbClr val="FFFDF9"/>
          </a:solidFill>
          <a:ln w="12700">
            <a:solidFill>
              <a:srgbClr val="DED5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i="0">
                <a:solidFill>
                  <a:srgbClr val="7865A5"/>
                </a:solidFill>
                <a:latin typeface="Calibri"/>
              </a:rPr>
              <a:t>Project Vision: </a:t>
            </a:r>
            <a:r>
              <a:rPr sz="1200" b="0" i="0">
                <a:solidFill>
                  <a:srgbClr val="332F3A"/>
                </a:solidFill>
                <a:latin typeface="Calibri"/>
              </a:rPr>
              <a:t>Build a platform that treats the HR system as the single source of truth for employee status, continuously monitors downstream application access states, detects mismatches (drift), and remediates them through controlled, auditable workflows.</a:t>
            </a:r>
          </a:p>
        </p:txBody>
      </p:sp>
      <p:sp>
        <p:nvSpPr>
          <p:cNvPr id="8" name="TextBox 7"/>
          <p:cNvSpPr txBox="1"/>
          <p:nvPr/>
        </p:nvSpPr>
        <p:spPr>
          <a:xfrm>
            <a:off x="548640" y="2468880"/>
            <a:ext cx="5303520" cy="3474720"/>
          </a:xfrm>
          <a:prstGeom prst="rect">
            <a:avLst/>
          </a:prstGeom>
          <a:noFill/>
        </p:spPr>
        <p:txBody>
          <a:bodyPr wrap="square">
            <a:spAutoFit/>
          </a:bodyPr>
          <a:lstStyle/>
          <a:p>
            <a:pPr>
              <a:spcAft>
                <a:spcPts val="500"/>
              </a:spcAft>
            </a:pPr>
            <a:r>
              <a:rPr sz="1100" b="1" i="0">
                <a:solidFill>
                  <a:srgbClr val="7865A5"/>
                </a:solidFill>
                <a:latin typeface="Calibri"/>
              </a:rPr>
              <a:t>▸ </a:t>
            </a:r>
            <a:r>
              <a:rPr sz="1100" b="0" i="0">
                <a:solidFill>
                  <a:srgbClr val="332F3A"/>
                </a:solidFill>
                <a:latin typeface="Calibri"/>
              </a:rPr>
              <a:t>Use HR employee records as the authoritative system of record for access entitlements.</a:t>
            </a:r>
          </a:p>
          <a:p>
            <a:pPr>
              <a:spcAft>
                <a:spcPts val="500"/>
              </a:spcAft>
            </a:pPr>
            <a:r>
              <a:rPr sz="1100" b="1" i="0">
                <a:solidFill>
                  <a:srgbClr val="7865A5"/>
                </a:solidFill>
                <a:latin typeface="Calibri"/>
              </a:rPr>
              <a:t>▸ </a:t>
            </a:r>
            <a:r>
              <a:rPr sz="1100" b="0" i="0">
                <a:solidFill>
                  <a:srgbClr val="332F3A"/>
                </a:solidFill>
                <a:latin typeface="Calibri"/>
              </a:rPr>
              <a:t>Simulate downstream enterprise systems (VPN, GitHub, Cloud IAM, Slack) with realistic access state models.</a:t>
            </a:r>
          </a:p>
          <a:p>
            <a:pPr>
              <a:spcAft>
                <a:spcPts val="500"/>
              </a:spcAft>
            </a:pPr>
            <a:r>
              <a:rPr sz="1100" b="1" i="0">
                <a:solidFill>
                  <a:srgbClr val="7865A5"/>
                </a:solidFill>
                <a:latin typeface="Calibri"/>
              </a:rPr>
              <a:t>▸ </a:t>
            </a:r>
            <a:r>
              <a:rPr sz="1100" b="0" i="0">
                <a:solidFill>
                  <a:srgbClr val="332F3A"/>
                </a:solidFill>
                <a:latin typeface="Calibri"/>
              </a:rPr>
              <a:t>Define declarative invariant rules that encode expected access behaviors (e.g., TERMINATED → DISABLED VPN).</a:t>
            </a:r>
          </a:p>
          <a:p>
            <a:pPr>
              <a:spcAft>
                <a:spcPts val="500"/>
              </a:spcAft>
            </a:pPr>
            <a:r>
              <a:rPr sz="1100" b="1" i="0">
                <a:solidFill>
                  <a:srgbClr val="7865A5"/>
                </a:solidFill>
                <a:latin typeface="Calibri"/>
              </a:rPr>
              <a:t>▸ </a:t>
            </a:r>
            <a:r>
              <a:rPr sz="1100" b="0" i="0">
                <a:solidFill>
                  <a:srgbClr val="332F3A"/>
                </a:solidFill>
                <a:latin typeface="Calibri"/>
              </a:rPr>
              <a:t>Detect authorization drift by comparing actual system states against invariant rule expectations.</a:t>
            </a:r>
          </a:p>
          <a:p>
            <a:pPr>
              <a:spcAft>
                <a:spcPts val="500"/>
              </a:spcAft>
            </a:pPr>
            <a:r>
              <a:rPr sz="1100" b="1" i="0">
                <a:solidFill>
                  <a:srgbClr val="7865A5"/>
                </a:solidFill>
                <a:latin typeface="Calibri"/>
              </a:rPr>
              <a:t>▸ </a:t>
            </a:r>
            <a:r>
              <a:rPr sz="1100" b="0" i="0">
                <a:solidFill>
                  <a:srgbClr val="332F3A"/>
                </a:solidFill>
                <a:latin typeface="Calibri"/>
              </a:rPr>
              <a:t>Generate deterministic repair plans and enforce human-in-the-loop approvals for sensitive corrections.</a:t>
            </a:r>
          </a:p>
          <a:p>
            <a:pPr>
              <a:spcAft>
                <a:spcPts val="500"/>
              </a:spcAft>
            </a:pPr>
            <a:r>
              <a:rPr sz="1100" b="1" i="0">
                <a:solidFill>
                  <a:srgbClr val="7865A5"/>
                </a:solidFill>
                <a:latin typeface="Calibri"/>
              </a:rPr>
              <a:t>▸ </a:t>
            </a:r>
            <a:r>
              <a:rPr sz="1100" b="0" i="0">
                <a:solidFill>
                  <a:srgbClr val="332F3A"/>
                </a:solidFill>
                <a:latin typeface="Calibri"/>
              </a:rPr>
              <a:t>Maintain a tamper-evident, SHA-256 cryptographic audit trail of every detection and remediation action.</a:t>
            </a:r>
          </a:p>
        </p:txBody>
      </p:sp>
      <p:sp>
        <p:nvSpPr>
          <p:cNvPr id="9" name="Rounded Rectangle 8"/>
          <p:cNvSpPr/>
          <p:nvPr/>
        </p:nvSpPr>
        <p:spPr>
          <a:xfrm>
            <a:off x="6035040" y="2468880"/>
            <a:ext cx="2560320" cy="3030896"/>
          </a:xfrm>
          <a:prstGeom prst="roundRect">
            <a:avLst>
              <a:gd name="adj" fmla="val 5000"/>
            </a:avLst>
          </a:prstGeom>
          <a:solidFill>
            <a:srgbClr val="FFFDF9"/>
          </a:solidFill>
          <a:ln w="12700">
            <a:solidFill>
              <a:srgbClr val="7865A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i="0" dirty="0">
                <a:solidFill>
                  <a:srgbClr val="7865A5"/>
                </a:solidFill>
                <a:latin typeface="Calibri"/>
              </a:rPr>
              <a:t>CURRENT SCOPE</a:t>
            </a:r>
          </a:p>
          <a:p>
            <a:pPr>
              <a:spcBef>
                <a:spcPts val="400"/>
              </a:spcBef>
            </a:pPr>
            <a:r>
              <a:rPr sz="1000" b="0" i="0" dirty="0">
                <a:solidFill>
                  <a:srgbClr val="332F3A"/>
                </a:solidFill>
                <a:latin typeface="Calibri"/>
              </a:rPr>
              <a:t>✓ HR Employee System</a:t>
            </a:r>
          </a:p>
          <a:p>
            <a:pPr>
              <a:spcBef>
                <a:spcPts val="400"/>
              </a:spcBef>
            </a:pPr>
            <a:r>
              <a:rPr sz="1000" b="0" i="0" dirty="0">
                <a:solidFill>
                  <a:srgbClr val="332F3A"/>
                </a:solidFill>
                <a:latin typeface="Calibri"/>
              </a:rPr>
              <a:t>✓ Simulated VPN Connector</a:t>
            </a:r>
          </a:p>
          <a:p>
            <a:pPr>
              <a:spcBef>
                <a:spcPts val="400"/>
              </a:spcBef>
            </a:pPr>
            <a:r>
              <a:rPr sz="1000" b="0" i="0" dirty="0">
                <a:solidFill>
                  <a:srgbClr val="332F3A"/>
                </a:solidFill>
                <a:latin typeface="Calibri"/>
              </a:rPr>
              <a:t>✓ GitHub, Cloud, Slack Models</a:t>
            </a:r>
          </a:p>
          <a:p>
            <a:pPr>
              <a:spcBef>
                <a:spcPts val="400"/>
              </a:spcBef>
            </a:pPr>
            <a:r>
              <a:rPr sz="1000" b="0" i="0" dirty="0">
                <a:solidFill>
                  <a:srgbClr val="332F3A"/>
                </a:solidFill>
                <a:latin typeface="Calibri"/>
              </a:rPr>
              <a:t>✓ Invariant Rule Engine</a:t>
            </a:r>
          </a:p>
          <a:p>
            <a:pPr>
              <a:spcBef>
                <a:spcPts val="400"/>
              </a:spcBef>
            </a:pPr>
            <a:r>
              <a:rPr sz="1000" b="0" i="0" dirty="0">
                <a:solidFill>
                  <a:srgbClr val="332F3A"/>
                </a:solidFill>
                <a:latin typeface="Calibri"/>
              </a:rPr>
              <a:t>✓ Drift Detection Engine</a:t>
            </a:r>
          </a:p>
          <a:p>
            <a:pPr>
              <a:spcBef>
                <a:spcPts val="400"/>
              </a:spcBef>
            </a:pPr>
            <a:r>
              <a:rPr sz="1000" b="0" i="0" dirty="0">
                <a:solidFill>
                  <a:srgbClr val="332F3A"/>
                </a:solidFill>
                <a:latin typeface="Calibri"/>
              </a:rPr>
              <a:t>✓ Repair Planning &amp; Execution</a:t>
            </a:r>
          </a:p>
          <a:p>
            <a:pPr>
              <a:spcBef>
                <a:spcPts val="400"/>
              </a:spcBef>
            </a:pPr>
            <a:r>
              <a:rPr sz="1000" b="0" i="0" dirty="0">
                <a:solidFill>
                  <a:srgbClr val="332F3A"/>
                </a:solidFill>
                <a:latin typeface="Calibri"/>
              </a:rPr>
              <a:t>✓ Approval Workflows</a:t>
            </a:r>
          </a:p>
          <a:p>
            <a:pPr>
              <a:spcBef>
                <a:spcPts val="400"/>
              </a:spcBef>
            </a:pPr>
            <a:r>
              <a:rPr sz="1000" b="0" i="0" dirty="0">
                <a:solidFill>
                  <a:srgbClr val="332F3A"/>
                </a:solidFill>
                <a:latin typeface="Calibri"/>
              </a:rPr>
              <a:t>✓ Audit Trail (SHA-256)</a:t>
            </a:r>
          </a:p>
          <a:p>
            <a:pPr>
              <a:spcBef>
                <a:spcPts val="400"/>
              </a:spcBef>
            </a:pPr>
            <a:r>
              <a:rPr sz="1000" b="0" i="0" dirty="0">
                <a:solidFill>
                  <a:srgbClr val="332F3A"/>
                </a:solidFill>
                <a:latin typeface="Calibri"/>
              </a:rPr>
              <a:t>✓ React Dashboard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0E8"/>
        </a:solidFill>
        <a:effectLst/>
      </p:bgPr>
    </p:bg>
    <p:spTree>
      <p:nvGrpSpPr>
        <p:cNvPr id="1" name=""/>
        <p:cNvGrpSpPr/>
        <p:nvPr/>
      </p:nvGrpSpPr>
      <p:grpSpPr>
        <a:xfrm>
          <a:off x="0" y="0"/>
          <a:ext cx="0" cy="0"/>
          <a:chOff x="0" y="0"/>
          <a:chExt cx="0" cy="0"/>
        </a:xfrm>
      </p:grpSpPr>
      <p:sp>
        <p:nvSpPr>
          <p:cNvPr id="2" name="Rectangle 1"/>
          <p:cNvSpPr/>
          <p:nvPr/>
        </p:nvSpPr>
        <p:spPr>
          <a:xfrm>
            <a:off x="457200" y="411480"/>
            <a:ext cx="201168" cy="457200"/>
          </a:xfrm>
          <a:prstGeom prst="rect">
            <a:avLst/>
          </a:prstGeom>
          <a:solidFill>
            <a:srgbClr val="786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320040"/>
            <a:ext cx="7315200" cy="502920"/>
          </a:xfrm>
          <a:prstGeom prst="rect">
            <a:avLst/>
          </a:prstGeom>
          <a:noFill/>
        </p:spPr>
        <p:txBody>
          <a:bodyPr wrap="square">
            <a:spAutoFit/>
          </a:bodyPr>
          <a:lstStyle/>
          <a:p>
            <a:pPr algn="l"/>
            <a:r>
              <a:rPr sz="2200" b="1" i="0">
                <a:solidFill>
                  <a:srgbClr val="332F3A"/>
                </a:solidFill>
                <a:latin typeface="Calibri"/>
              </a:rPr>
              <a:t>System Architecture &amp; Technology Stack</a:t>
            </a:r>
          </a:p>
        </p:txBody>
      </p:sp>
      <p:sp>
        <p:nvSpPr>
          <p:cNvPr id="4" name="TextBox 3"/>
          <p:cNvSpPr txBox="1"/>
          <p:nvPr/>
        </p:nvSpPr>
        <p:spPr>
          <a:xfrm>
            <a:off x="822960" y="749808"/>
            <a:ext cx="7315200" cy="320040"/>
          </a:xfrm>
          <a:prstGeom prst="rect">
            <a:avLst/>
          </a:prstGeom>
          <a:noFill/>
        </p:spPr>
        <p:txBody>
          <a:bodyPr wrap="square">
            <a:spAutoFit/>
          </a:bodyPr>
          <a:lstStyle/>
          <a:p>
            <a:pPr algn="l"/>
            <a:r>
              <a:rPr sz="1100" b="0" i="0">
                <a:solidFill>
                  <a:srgbClr val="7E7684"/>
                </a:solidFill>
                <a:latin typeface="Calibri"/>
              </a:rPr>
              <a:t>Modular Django backend with React SPA frontend</a:t>
            </a:r>
          </a:p>
        </p:txBody>
      </p:sp>
      <p:sp>
        <p:nvSpPr>
          <p:cNvPr id="5" name="TextBox 4"/>
          <p:cNvSpPr txBox="1"/>
          <p:nvPr/>
        </p:nvSpPr>
        <p:spPr>
          <a:xfrm>
            <a:off x="457200" y="6400800"/>
            <a:ext cx="7772400" cy="320040"/>
          </a:xfrm>
          <a:prstGeom prst="rect">
            <a:avLst/>
          </a:prstGeom>
          <a:noFill/>
        </p:spPr>
        <p:txBody>
          <a:bodyPr wrap="square">
            <a:spAutoFit/>
          </a:bodyPr>
          <a:lstStyle/>
          <a:p>
            <a:pPr>
              <a:defRPr sz="800">
                <a:solidFill>
                  <a:srgbClr val="7E7684"/>
                </a:solidFill>
                <a:latin typeface="Calibri"/>
              </a:defRPr>
            </a:pPr>
            <a:r>
              <a:t>ReconcileOS — Continuous Integrity Platform  |  Slide 4</a:t>
            </a:r>
          </a:p>
        </p:txBody>
      </p:sp>
      <p:sp>
        <p:nvSpPr>
          <p:cNvPr id="6" name="Rectangle 5"/>
          <p:cNvSpPr/>
          <p:nvPr/>
        </p:nvSpPr>
        <p:spPr>
          <a:xfrm>
            <a:off x="457200" y="6327648"/>
            <a:ext cx="8229600" cy="19050"/>
          </a:xfrm>
          <a:prstGeom prst="rect">
            <a:avLst/>
          </a:prstGeom>
          <a:solidFill>
            <a:srgbClr val="DED5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7200" y="1371600"/>
            <a:ext cx="2011680" cy="914400"/>
          </a:xfrm>
          <a:prstGeom prst="roundRect">
            <a:avLst>
              <a:gd name="adj" fmla="val 5000"/>
            </a:avLst>
          </a:prstGeom>
          <a:solidFill>
            <a:srgbClr val="FFFDF9"/>
          </a:solidFill>
          <a:ln w="12700">
            <a:solidFill>
              <a:srgbClr val="DED5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i="0">
                <a:solidFill>
                  <a:srgbClr val="7865A5"/>
                </a:solidFill>
                <a:latin typeface="Calibri"/>
              </a:rPr>
              <a:t>React Frontend</a:t>
            </a:r>
          </a:p>
          <a:p>
            <a:r>
              <a:rPr sz="900" b="0" i="0">
                <a:solidFill>
                  <a:srgbClr val="595260"/>
                </a:solidFill>
                <a:latin typeface="Calibri"/>
              </a:rPr>
              <a:t>React 19 · Vite 8 · Lucide
React Router 7</a:t>
            </a:r>
          </a:p>
        </p:txBody>
      </p:sp>
      <p:sp>
        <p:nvSpPr>
          <p:cNvPr id="8" name="TextBox 7"/>
          <p:cNvSpPr txBox="1"/>
          <p:nvPr/>
        </p:nvSpPr>
        <p:spPr>
          <a:xfrm>
            <a:off x="2514600" y="1554480"/>
            <a:ext cx="457200" cy="365760"/>
          </a:xfrm>
          <a:prstGeom prst="rect">
            <a:avLst/>
          </a:prstGeom>
          <a:noFill/>
        </p:spPr>
        <p:txBody>
          <a:bodyPr wrap="square">
            <a:spAutoFit/>
          </a:bodyPr>
          <a:lstStyle/>
          <a:p>
            <a:pPr algn="ctr"/>
            <a:r>
              <a:rPr sz="2000" b="1" i="0">
                <a:solidFill>
                  <a:srgbClr val="7865A5"/>
                </a:solidFill>
                <a:latin typeface="Calibri"/>
              </a:rPr>
              <a:t>→</a:t>
            </a:r>
          </a:p>
        </p:txBody>
      </p:sp>
      <p:sp>
        <p:nvSpPr>
          <p:cNvPr id="9" name="Rounded Rectangle 8"/>
          <p:cNvSpPr/>
          <p:nvPr/>
        </p:nvSpPr>
        <p:spPr>
          <a:xfrm>
            <a:off x="2926080" y="1371600"/>
            <a:ext cx="2286000" cy="914400"/>
          </a:xfrm>
          <a:prstGeom prst="roundRect">
            <a:avLst>
              <a:gd name="adj" fmla="val 5000"/>
            </a:avLst>
          </a:prstGeom>
          <a:solidFill>
            <a:srgbClr val="FFFDF9"/>
          </a:solidFill>
          <a:ln w="12700">
            <a:solidFill>
              <a:srgbClr val="DED5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i="0">
                <a:solidFill>
                  <a:srgbClr val="7865A5"/>
                </a:solidFill>
                <a:latin typeface="Calibri"/>
              </a:rPr>
              <a:t>Django REST API</a:t>
            </a:r>
          </a:p>
          <a:p>
            <a:r>
              <a:rPr sz="900" b="0" i="0">
                <a:solidFill>
                  <a:srgbClr val="595260"/>
                </a:solidFill>
                <a:latin typeface="Calibri"/>
              </a:rPr>
              <a:t>Django 5.1 · DRF 3.17
SimpleJWT · django-filter</a:t>
            </a:r>
          </a:p>
        </p:txBody>
      </p:sp>
      <p:sp>
        <p:nvSpPr>
          <p:cNvPr id="10" name="TextBox 9"/>
          <p:cNvSpPr txBox="1"/>
          <p:nvPr/>
        </p:nvSpPr>
        <p:spPr>
          <a:xfrm>
            <a:off x="5257800" y="1554480"/>
            <a:ext cx="457200" cy="365760"/>
          </a:xfrm>
          <a:prstGeom prst="rect">
            <a:avLst/>
          </a:prstGeom>
          <a:noFill/>
        </p:spPr>
        <p:txBody>
          <a:bodyPr wrap="square">
            <a:spAutoFit/>
          </a:bodyPr>
          <a:lstStyle/>
          <a:p>
            <a:pPr algn="ctr"/>
            <a:r>
              <a:rPr sz="2000" b="1" i="0">
                <a:solidFill>
                  <a:srgbClr val="7865A5"/>
                </a:solidFill>
                <a:latin typeface="Calibri"/>
              </a:rPr>
              <a:t>→</a:t>
            </a:r>
          </a:p>
        </p:txBody>
      </p:sp>
      <p:sp>
        <p:nvSpPr>
          <p:cNvPr id="11" name="Rounded Rectangle 10"/>
          <p:cNvSpPr/>
          <p:nvPr/>
        </p:nvSpPr>
        <p:spPr>
          <a:xfrm>
            <a:off x="5669280" y="1371600"/>
            <a:ext cx="1828800" cy="914400"/>
          </a:xfrm>
          <a:prstGeom prst="roundRect">
            <a:avLst>
              <a:gd name="adj" fmla="val 5000"/>
            </a:avLst>
          </a:prstGeom>
          <a:solidFill>
            <a:srgbClr val="FFFDF9"/>
          </a:solidFill>
          <a:ln w="12700">
            <a:solidFill>
              <a:srgbClr val="DED5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i="0">
                <a:solidFill>
                  <a:srgbClr val="7865A5"/>
                </a:solidFill>
                <a:latin typeface="Calibri"/>
              </a:rPr>
              <a:t>SQLite Database</a:t>
            </a:r>
          </a:p>
          <a:p>
            <a:r>
              <a:rPr sz="900" b="0" i="0">
                <a:solidFill>
                  <a:srgbClr val="595260"/>
                </a:solidFill>
                <a:latin typeface="Calibri"/>
              </a:rPr>
              <a:t>Dev default
PostgreSQL-ready</a:t>
            </a:r>
          </a:p>
        </p:txBody>
      </p:sp>
      <p:sp>
        <p:nvSpPr>
          <p:cNvPr id="12" name="Rounded Rectangle 11"/>
          <p:cNvSpPr/>
          <p:nvPr/>
        </p:nvSpPr>
        <p:spPr>
          <a:xfrm>
            <a:off x="457200" y="2743200"/>
            <a:ext cx="1920240" cy="914400"/>
          </a:xfrm>
          <a:prstGeom prst="roundRect">
            <a:avLst>
              <a:gd name="adj" fmla="val 5000"/>
            </a:avLst>
          </a:prstGeom>
          <a:solidFill>
            <a:srgbClr val="FFFDF9"/>
          </a:solidFill>
          <a:ln w="12700">
            <a:solidFill>
              <a:srgbClr val="7865A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i="0">
                <a:solidFill>
                  <a:srgbClr val="7865A5"/>
                </a:solidFill>
                <a:latin typeface="Calibri"/>
              </a:rPr>
              <a:t>apps.employees</a:t>
            </a:r>
          </a:p>
          <a:p>
            <a:pPr algn="ctr"/>
            <a:r>
              <a:rPr sz="900" b="0" i="0">
                <a:solidFill>
                  <a:srgbClr val="595260"/>
                </a:solidFill>
                <a:latin typeface="Calibri"/>
              </a:rPr>
              <a:t>HR System
of Record</a:t>
            </a:r>
          </a:p>
        </p:txBody>
      </p:sp>
      <p:sp>
        <p:nvSpPr>
          <p:cNvPr id="13" name="Rounded Rectangle 12"/>
          <p:cNvSpPr/>
          <p:nvPr/>
        </p:nvSpPr>
        <p:spPr>
          <a:xfrm>
            <a:off x="2560320" y="2743200"/>
            <a:ext cx="1920240" cy="914400"/>
          </a:xfrm>
          <a:prstGeom prst="roundRect">
            <a:avLst>
              <a:gd name="adj" fmla="val 5000"/>
            </a:avLst>
          </a:prstGeom>
          <a:solidFill>
            <a:srgbClr val="FFFDF9"/>
          </a:solidFill>
          <a:ln w="12700">
            <a:solidFill>
              <a:srgbClr val="7865A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i="0">
                <a:solidFill>
                  <a:srgbClr val="7865A5"/>
                </a:solidFill>
                <a:latin typeface="Calibri"/>
              </a:rPr>
              <a:t>apps.connectors</a:t>
            </a:r>
          </a:p>
          <a:p>
            <a:pPr algn="ctr"/>
            <a:r>
              <a:rPr sz="900" b="0" i="0">
                <a:solidFill>
                  <a:srgbClr val="595260"/>
                </a:solidFill>
                <a:latin typeface="Calibri"/>
              </a:rPr>
              <a:t>Simulated
Connectors</a:t>
            </a:r>
          </a:p>
        </p:txBody>
      </p:sp>
      <p:sp>
        <p:nvSpPr>
          <p:cNvPr id="14" name="Rounded Rectangle 13"/>
          <p:cNvSpPr/>
          <p:nvPr/>
        </p:nvSpPr>
        <p:spPr>
          <a:xfrm>
            <a:off x="4663440" y="2743200"/>
            <a:ext cx="1920240" cy="914400"/>
          </a:xfrm>
          <a:prstGeom prst="roundRect">
            <a:avLst>
              <a:gd name="adj" fmla="val 5000"/>
            </a:avLst>
          </a:prstGeom>
          <a:solidFill>
            <a:srgbClr val="FFFDF9"/>
          </a:solidFill>
          <a:ln w="12700">
            <a:solidFill>
              <a:srgbClr val="7865A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i="0">
                <a:solidFill>
                  <a:srgbClr val="7865A5"/>
                </a:solidFill>
                <a:latin typeface="Calibri"/>
              </a:rPr>
              <a:t>apps.rules</a:t>
            </a:r>
          </a:p>
          <a:p>
            <a:pPr algn="ctr"/>
            <a:r>
              <a:rPr sz="900" b="0" i="0">
                <a:solidFill>
                  <a:srgbClr val="595260"/>
                </a:solidFill>
                <a:latin typeface="Calibri"/>
              </a:rPr>
              <a:t>Invariant
Rule Engine</a:t>
            </a:r>
          </a:p>
        </p:txBody>
      </p:sp>
      <p:sp>
        <p:nvSpPr>
          <p:cNvPr id="15" name="Rounded Rectangle 14"/>
          <p:cNvSpPr/>
          <p:nvPr/>
        </p:nvSpPr>
        <p:spPr>
          <a:xfrm>
            <a:off x="6766560" y="2743200"/>
            <a:ext cx="1920240" cy="914400"/>
          </a:xfrm>
          <a:prstGeom prst="roundRect">
            <a:avLst>
              <a:gd name="adj" fmla="val 5000"/>
            </a:avLst>
          </a:prstGeom>
          <a:solidFill>
            <a:srgbClr val="FFFDF9"/>
          </a:solidFill>
          <a:ln w="12700">
            <a:solidFill>
              <a:srgbClr val="7865A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i="0">
                <a:solidFill>
                  <a:srgbClr val="7865A5"/>
                </a:solidFill>
                <a:latin typeface="Calibri"/>
              </a:rPr>
              <a:t>apps.reconciliation</a:t>
            </a:r>
          </a:p>
          <a:p>
            <a:pPr algn="ctr"/>
            <a:r>
              <a:rPr sz="900" b="0" i="0">
                <a:solidFill>
                  <a:srgbClr val="595260"/>
                </a:solidFill>
                <a:latin typeface="Calibri"/>
              </a:rPr>
              <a:t>Drift Detection
Engine</a:t>
            </a:r>
          </a:p>
        </p:txBody>
      </p:sp>
      <p:sp>
        <p:nvSpPr>
          <p:cNvPr id="16" name="Rounded Rectangle 15"/>
          <p:cNvSpPr/>
          <p:nvPr/>
        </p:nvSpPr>
        <p:spPr>
          <a:xfrm>
            <a:off x="457200" y="3840480"/>
            <a:ext cx="1920240" cy="914400"/>
          </a:xfrm>
          <a:prstGeom prst="roundRect">
            <a:avLst>
              <a:gd name="adj" fmla="val 5000"/>
            </a:avLst>
          </a:prstGeom>
          <a:solidFill>
            <a:srgbClr val="FFFDF9"/>
          </a:solidFill>
          <a:ln w="12700">
            <a:solidFill>
              <a:srgbClr val="7865A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i="0">
                <a:solidFill>
                  <a:srgbClr val="7865A5"/>
                </a:solidFill>
                <a:latin typeface="Calibri"/>
              </a:rPr>
              <a:t>apps.workflows</a:t>
            </a:r>
          </a:p>
          <a:p>
            <a:pPr algn="ctr"/>
            <a:r>
              <a:rPr sz="900" b="0" i="0">
                <a:solidFill>
                  <a:srgbClr val="595260"/>
                </a:solidFill>
                <a:latin typeface="Calibri"/>
              </a:rPr>
              <a:t>Repair Planning
&amp; Execution</a:t>
            </a:r>
          </a:p>
        </p:txBody>
      </p:sp>
      <p:sp>
        <p:nvSpPr>
          <p:cNvPr id="17" name="Rounded Rectangle 16"/>
          <p:cNvSpPr/>
          <p:nvPr/>
        </p:nvSpPr>
        <p:spPr>
          <a:xfrm>
            <a:off x="2560320" y="3840480"/>
            <a:ext cx="1920240" cy="914400"/>
          </a:xfrm>
          <a:prstGeom prst="roundRect">
            <a:avLst>
              <a:gd name="adj" fmla="val 5000"/>
            </a:avLst>
          </a:prstGeom>
          <a:solidFill>
            <a:srgbClr val="FFFDF9"/>
          </a:solidFill>
          <a:ln w="12700">
            <a:solidFill>
              <a:srgbClr val="7865A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i="0">
                <a:solidFill>
                  <a:srgbClr val="7865A5"/>
                </a:solidFill>
                <a:latin typeface="Calibri"/>
              </a:rPr>
              <a:t>apps.approvals</a:t>
            </a:r>
          </a:p>
          <a:p>
            <a:pPr algn="ctr"/>
            <a:r>
              <a:rPr sz="900" b="0" i="0">
                <a:solidFill>
                  <a:srgbClr val="595260"/>
                </a:solidFill>
                <a:latin typeface="Calibri"/>
              </a:rPr>
              <a:t>Approval
Workflows</a:t>
            </a:r>
          </a:p>
        </p:txBody>
      </p:sp>
      <p:sp>
        <p:nvSpPr>
          <p:cNvPr id="18" name="Rounded Rectangle 17"/>
          <p:cNvSpPr/>
          <p:nvPr/>
        </p:nvSpPr>
        <p:spPr>
          <a:xfrm>
            <a:off x="4663440" y="3840480"/>
            <a:ext cx="1920240" cy="914400"/>
          </a:xfrm>
          <a:prstGeom prst="roundRect">
            <a:avLst>
              <a:gd name="adj" fmla="val 5000"/>
            </a:avLst>
          </a:prstGeom>
          <a:solidFill>
            <a:srgbClr val="FFFDF9"/>
          </a:solidFill>
          <a:ln w="12700">
            <a:solidFill>
              <a:srgbClr val="7865A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i="0">
                <a:solidFill>
                  <a:srgbClr val="7865A5"/>
                </a:solidFill>
                <a:latin typeface="Calibri"/>
              </a:rPr>
              <a:t>apps.audit</a:t>
            </a:r>
          </a:p>
          <a:p>
            <a:pPr algn="ctr"/>
            <a:r>
              <a:rPr sz="900" b="0" i="0">
                <a:solidFill>
                  <a:srgbClr val="595260"/>
                </a:solidFill>
                <a:latin typeface="Calibri"/>
              </a:rPr>
              <a:t>Tamper-Evident
Audit Trail</a:t>
            </a:r>
          </a:p>
        </p:txBody>
      </p:sp>
      <p:sp>
        <p:nvSpPr>
          <p:cNvPr id="19" name="Rounded Rectangle 18"/>
          <p:cNvSpPr/>
          <p:nvPr/>
        </p:nvSpPr>
        <p:spPr>
          <a:xfrm>
            <a:off x="6766560" y="3840480"/>
            <a:ext cx="1920240" cy="914400"/>
          </a:xfrm>
          <a:prstGeom prst="roundRect">
            <a:avLst>
              <a:gd name="adj" fmla="val 5000"/>
            </a:avLst>
          </a:prstGeom>
          <a:solidFill>
            <a:srgbClr val="FFFDF9"/>
          </a:solidFill>
          <a:ln w="12700">
            <a:solidFill>
              <a:srgbClr val="7865A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i="0">
                <a:solidFill>
                  <a:srgbClr val="7865A5"/>
                </a:solidFill>
                <a:latin typeface="Calibri"/>
              </a:rPr>
              <a:t>apps.accounts</a:t>
            </a:r>
          </a:p>
          <a:p>
            <a:pPr algn="ctr"/>
            <a:r>
              <a:rPr sz="900" b="0" i="0">
                <a:solidFill>
                  <a:srgbClr val="595260"/>
                </a:solidFill>
                <a:latin typeface="Calibri"/>
              </a:rPr>
              <a:t>JWT Auth
&amp; RBAC</a:t>
            </a:r>
          </a:p>
        </p:txBody>
      </p:sp>
      <p:sp>
        <p:nvSpPr>
          <p:cNvPr id="20" name="TextBox 19"/>
          <p:cNvSpPr txBox="1"/>
          <p:nvPr/>
        </p:nvSpPr>
        <p:spPr>
          <a:xfrm>
            <a:off x="457200" y="5029200"/>
            <a:ext cx="8229600" cy="457200"/>
          </a:xfrm>
          <a:prstGeom prst="rect">
            <a:avLst/>
          </a:prstGeom>
          <a:noFill/>
        </p:spPr>
        <p:txBody>
          <a:bodyPr wrap="square">
            <a:spAutoFit/>
          </a:bodyPr>
          <a:lstStyle/>
          <a:p>
            <a:pPr algn="ctr"/>
            <a:r>
              <a:rPr sz="1000" b="0" i="0">
                <a:solidFill>
                  <a:srgbClr val="7E7684"/>
                </a:solidFill>
                <a:latin typeface="Calibri"/>
              </a:rPr>
              <a:t>Python 3.14+  ·  Django 5.1  ·  DRF 3.17  ·  SimpleJWT 5.3+  ·  React 19  ·  Vite 8  ·  SQLite (dev)</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0E8"/>
        </a:solidFill>
        <a:effectLst/>
      </p:bgPr>
    </p:bg>
    <p:spTree>
      <p:nvGrpSpPr>
        <p:cNvPr id="1" name=""/>
        <p:cNvGrpSpPr/>
        <p:nvPr/>
      </p:nvGrpSpPr>
      <p:grpSpPr>
        <a:xfrm>
          <a:off x="0" y="0"/>
          <a:ext cx="0" cy="0"/>
          <a:chOff x="0" y="0"/>
          <a:chExt cx="0" cy="0"/>
        </a:xfrm>
      </p:grpSpPr>
      <p:sp>
        <p:nvSpPr>
          <p:cNvPr id="2" name="Rectangle 1"/>
          <p:cNvSpPr/>
          <p:nvPr/>
        </p:nvSpPr>
        <p:spPr>
          <a:xfrm>
            <a:off x="457200" y="411480"/>
            <a:ext cx="201168" cy="457200"/>
          </a:xfrm>
          <a:prstGeom prst="rect">
            <a:avLst/>
          </a:prstGeom>
          <a:solidFill>
            <a:srgbClr val="786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320040"/>
            <a:ext cx="7315200" cy="502920"/>
          </a:xfrm>
          <a:prstGeom prst="rect">
            <a:avLst/>
          </a:prstGeom>
          <a:noFill/>
        </p:spPr>
        <p:txBody>
          <a:bodyPr wrap="square">
            <a:spAutoFit/>
          </a:bodyPr>
          <a:lstStyle/>
          <a:p>
            <a:pPr algn="l"/>
            <a:r>
              <a:rPr sz="2200" b="1" i="0">
                <a:solidFill>
                  <a:srgbClr val="332F3A"/>
                </a:solidFill>
                <a:latin typeface="Calibri"/>
              </a:rPr>
              <a:t>Core Workflow: HR Change to Access Correction</a:t>
            </a:r>
          </a:p>
        </p:txBody>
      </p:sp>
      <p:sp>
        <p:nvSpPr>
          <p:cNvPr id="4" name="TextBox 3"/>
          <p:cNvSpPr txBox="1"/>
          <p:nvPr/>
        </p:nvSpPr>
        <p:spPr>
          <a:xfrm>
            <a:off x="822960" y="749808"/>
            <a:ext cx="7315200" cy="320040"/>
          </a:xfrm>
          <a:prstGeom prst="rect">
            <a:avLst/>
          </a:prstGeom>
          <a:noFill/>
        </p:spPr>
        <p:txBody>
          <a:bodyPr wrap="square">
            <a:spAutoFit/>
          </a:bodyPr>
          <a:lstStyle/>
          <a:p>
            <a:pPr algn="l"/>
            <a:r>
              <a:rPr sz="1100" b="0" i="0">
                <a:solidFill>
                  <a:srgbClr val="7E7684"/>
                </a:solidFill>
                <a:latin typeface="Calibri"/>
              </a:rPr>
              <a:t>End-to-end reconciliation pipeline</a:t>
            </a:r>
          </a:p>
        </p:txBody>
      </p:sp>
      <p:sp>
        <p:nvSpPr>
          <p:cNvPr id="5" name="TextBox 4"/>
          <p:cNvSpPr txBox="1"/>
          <p:nvPr/>
        </p:nvSpPr>
        <p:spPr>
          <a:xfrm>
            <a:off x="457200" y="6400800"/>
            <a:ext cx="7772400" cy="320040"/>
          </a:xfrm>
          <a:prstGeom prst="rect">
            <a:avLst/>
          </a:prstGeom>
          <a:noFill/>
        </p:spPr>
        <p:txBody>
          <a:bodyPr wrap="square">
            <a:spAutoFit/>
          </a:bodyPr>
          <a:lstStyle/>
          <a:p>
            <a:pPr>
              <a:defRPr sz="800">
                <a:solidFill>
                  <a:srgbClr val="7E7684"/>
                </a:solidFill>
                <a:latin typeface="Calibri"/>
              </a:defRPr>
            </a:pPr>
            <a:r>
              <a:t>ReconcileOS — Continuous Integrity Platform  |  Slide 5</a:t>
            </a:r>
          </a:p>
        </p:txBody>
      </p:sp>
      <p:sp>
        <p:nvSpPr>
          <p:cNvPr id="6" name="Rectangle 5"/>
          <p:cNvSpPr/>
          <p:nvPr/>
        </p:nvSpPr>
        <p:spPr>
          <a:xfrm>
            <a:off x="457200" y="6327648"/>
            <a:ext cx="8229600" cy="19050"/>
          </a:xfrm>
          <a:prstGeom prst="rect">
            <a:avLst/>
          </a:prstGeom>
          <a:solidFill>
            <a:srgbClr val="DED5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17219" y="1645920"/>
            <a:ext cx="548640" cy="548640"/>
          </a:xfrm>
          <a:prstGeom prst="ellipse">
            <a:avLst/>
          </a:prstGeom>
          <a:solidFill>
            <a:srgbClr val="2BAE7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i="0">
                <a:solidFill>
                  <a:srgbClr val="FFFFFF"/>
                </a:solidFill>
                <a:latin typeface="Calibri"/>
              </a:rPr>
              <a:t>1</a:t>
            </a:r>
          </a:p>
        </p:txBody>
      </p:sp>
      <p:sp>
        <p:nvSpPr>
          <p:cNvPr id="8" name="TextBox 7"/>
          <p:cNvSpPr txBox="1"/>
          <p:nvPr/>
        </p:nvSpPr>
        <p:spPr>
          <a:xfrm>
            <a:off x="434339" y="2286000"/>
            <a:ext cx="914400" cy="548640"/>
          </a:xfrm>
          <a:prstGeom prst="rect">
            <a:avLst/>
          </a:prstGeom>
          <a:noFill/>
        </p:spPr>
        <p:txBody>
          <a:bodyPr wrap="square">
            <a:spAutoFit/>
          </a:bodyPr>
          <a:lstStyle/>
          <a:p>
            <a:pPr algn="ctr"/>
            <a:r>
              <a:rPr sz="900" b="0" i="0">
                <a:solidFill>
                  <a:srgbClr val="332F3A"/>
                </a:solidFill>
                <a:latin typeface="Calibri"/>
              </a:rPr>
              <a:t>HR Status
Change</a:t>
            </a:r>
          </a:p>
        </p:txBody>
      </p:sp>
      <p:sp>
        <p:nvSpPr>
          <p:cNvPr id="9" name="TextBox 8"/>
          <p:cNvSpPr txBox="1"/>
          <p:nvPr/>
        </p:nvSpPr>
        <p:spPr>
          <a:xfrm>
            <a:off x="434339" y="2788920"/>
            <a:ext cx="914400" cy="274320"/>
          </a:xfrm>
          <a:prstGeom prst="rect">
            <a:avLst/>
          </a:prstGeom>
          <a:noFill/>
        </p:spPr>
        <p:txBody>
          <a:bodyPr wrap="square">
            <a:spAutoFit/>
          </a:bodyPr>
          <a:lstStyle/>
          <a:p>
            <a:pPr algn="ctr"/>
            <a:r>
              <a:rPr sz="800" b="0" i="0">
                <a:solidFill>
                  <a:srgbClr val="2BAE7B"/>
                </a:solidFill>
                <a:latin typeface="Calibri"/>
              </a:rPr>
              <a:t>Implemented</a:t>
            </a:r>
          </a:p>
        </p:txBody>
      </p:sp>
      <p:sp>
        <p:nvSpPr>
          <p:cNvPr id="10" name="TextBox 9"/>
          <p:cNvSpPr txBox="1"/>
          <p:nvPr/>
        </p:nvSpPr>
        <p:spPr>
          <a:xfrm>
            <a:off x="1348739" y="1719072"/>
            <a:ext cx="228600" cy="365760"/>
          </a:xfrm>
          <a:prstGeom prst="rect">
            <a:avLst/>
          </a:prstGeom>
          <a:noFill/>
        </p:spPr>
        <p:txBody>
          <a:bodyPr wrap="square">
            <a:spAutoFit/>
          </a:bodyPr>
          <a:lstStyle/>
          <a:p>
            <a:pPr algn="ctr"/>
            <a:r>
              <a:rPr sz="1400" b="1" i="0">
                <a:solidFill>
                  <a:srgbClr val="DED5C8"/>
                </a:solidFill>
                <a:latin typeface="Calibri"/>
              </a:rPr>
              <a:t>→</a:t>
            </a:r>
          </a:p>
        </p:txBody>
      </p:sp>
      <p:sp>
        <p:nvSpPr>
          <p:cNvPr id="11" name="Oval 10"/>
          <p:cNvSpPr/>
          <p:nvPr/>
        </p:nvSpPr>
        <p:spPr>
          <a:xfrm>
            <a:off x="1668779" y="1645920"/>
            <a:ext cx="548640" cy="548640"/>
          </a:xfrm>
          <a:prstGeom prst="ellipse">
            <a:avLst/>
          </a:prstGeom>
          <a:solidFill>
            <a:srgbClr val="2BAE7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i="0">
                <a:solidFill>
                  <a:srgbClr val="FFFFFF"/>
                </a:solidFill>
                <a:latin typeface="Calibri"/>
              </a:rPr>
              <a:t>2</a:t>
            </a:r>
          </a:p>
        </p:txBody>
      </p:sp>
      <p:sp>
        <p:nvSpPr>
          <p:cNvPr id="12" name="TextBox 11"/>
          <p:cNvSpPr txBox="1"/>
          <p:nvPr/>
        </p:nvSpPr>
        <p:spPr>
          <a:xfrm>
            <a:off x="1485899" y="2286000"/>
            <a:ext cx="914400" cy="548640"/>
          </a:xfrm>
          <a:prstGeom prst="rect">
            <a:avLst/>
          </a:prstGeom>
          <a:noFill/>
        </p:spPr>
        <p:txBody>
          <a:bodyPr wrap="square">
            <a:spAutoFit/>
          </a:bodyPr>
          <a:lstStyle/>
          <a:p>
            <a:pPr algn="ctr"/>
            <a:r>
              <a:rPr sz="900" b="0" i="0">
                <a:solidFill>
                  <a:srgbClr val="332F3A"/>
                </a:solidFill>
                <a:latin typeface="Calibri"/>
              </a:rPr>
              <a:t>Collect
System State</a:t>
            </a:r>
          </a:p>
        </p:txBody>
      </p:sp>
      <p:sp>
        <p:nvSpPr>
          <p:cNvPr id="13" name="TextBox 12"/>
          <p:cNvSpPr txBox="1"/>
          <p:nvPr/>
        </p:nvSpPr>
        <p:spPr>
          <a:xfrm>
            <a:off x="1485899" y="2788920"/>
            <a:ext cx="914400" cy="274320"/>
          </a:xfrm>
          <a:prstGeom prst="rect">
            <a:avLst/>
          </a:prstGeom>
          <a:noFill/>
        </p:spPr>
        <p:txBody>
          <a:bodyPr wrap="square">
            <a:spAutoFit/>
          </a:bodyPr>
          <a:lstStyle/>
          <a:p>
            <a:pPr algn="ctr"/>
            <a:r>
              <a:rPr sz="800" b="0" i="0">
                <a:solidFill>
                  <a:srgbClr val="2BAE7B"/>
                </a:solidFill>
                <a:latin typeface="Calibri"/>
              </a:rPr>
              <a:t>Implemented</a:t>
            </a:r>
          </a:p>
        </p:txBody>
      </p:sp>
      <p:sp>
        <p:nvSpPr>
          <p:cNvPr id="14" name="TextBox 13"/>
          <p:cNvSpPr txBox="1"/>
          <p:nvPr/>
        </p:nvSpPr>
        <p:spPr>
          <a:xfrm>
            <a:off x="2400299" y="1719072"/>
            <a:ext cx="228600" cy="365760"/>
          </a:xfrm>
          <a:prstGeom prst="rect">
            <a:avLst/>
          </a:prstGeom>
          <a:noFill/>
        </p:spPr>
        <p:txBody>
          <a:bodyPr wrap="square">
            <a:spAutoFit/>
          </a:bodyPr>
          <a:lstStyle/>
          <a:p>
            <a:pPr algn="ctr"/>
            <a:r>
              <a:rPr sz="1400" b="1" i="0">
                <a:solidFill>
                  <a:srgbClr val="DED5C8"/>
                </a:solidFill>
                <a:latin typeface="Calibri"/>
              </a:rPr>
              <a:t>→</a:t>
            </a:r>
          </a:p>
        </p:txBody>
      </p:sp>
      <p:sp>
        <p:nvSpPr>
          <p:cNvPr id="15" name="Oval 14"/>
          <p:cNvSpPr/>
          <p:nvPr/>
        </p:nvSpPr>
        <p:spPr>
          <a:xfrm>
            <a:off x="2720339" y="1645920"/>
            <a:ext cx="548640" cy="548640"/>
          </a:xfrm>
          <a:prstGeom prst="ellipse">
            <a:avLst/>
          </a:prstGeom>
          <a:solidFill>
            <a:srgbClr val="2BAE7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i="0">
                <a:solidFill>
                  <a:srgbClr val="FFFFFF"/>
                </a:solidFill>
                <a:latin typeface="Calibri"/>
              </a:rPr>
              <a:t>3</a:t>
            </a:r>
          </a:p>
        </p:txBody>
      </p:sp>
      <p:sp>
        <p:nvSpPr>
          <p:cNvPr id="16" name="TextBox 15"/>
          <p:cNvSpPr txBox="1"/>
          <p:nvPr/>
        </p:nvSpPr>
        <p:spPr>
          <a:xfrm>
            <a:off x="2537459" y="2286000"/>
            <a:ext cx="914400" cy="548640"/>
          </a:xfrm>
          <a:prstGeom prst="rect">
            <a:avLst/>
          </a:prstGeom>
          <a:noFill/>
        </p:spPr>
        <p:txBody>
          <a:bodyPr wrap="square">
            <a:spAutoFit/>
          </a:bodyPr>
          <a:lstStyle/>
          <a:p>
            <a:pPr algn="ctr"/>
            <a:r>
              <a:rPr sz="900" b="0" i="0">
                <a:solidFill>
                  <a:srgbClr val="332F3A"/>
                </a:solidFill>
                <a:latin typeface="Calibri"/>
              </a:rPr>
              <a:t>Evaluate
Invariant Rule</a:t>
            </a:r>
          </a:p>
        </p:txBody>
      </p:sp>
      <p:sp>
        <p:nvSpPr>
          <p:cNvPr id="17" name="TextBox 16"/>
          <p:cNvSpPr txBox="1"/>
          <p:nvPr/>
        </p:nvSpPr>
        <p:spPr>
          <a:xfrm>
            <a:off x="2537459" y="2788920"/>
            <a:ext cx="914400" cy="274320"/>
          </a:xfrm>
          <a:prstGeom prst="rect">
            <a:avLst/>
          </a:prstGeom>
          <a:noFill/>
        </p:spPr>
        <p:txBody>
          <a:bodyPr wrap="square">
            <a:spAutoFit/>
          </a:bodyPr>
          <a:lstStyle/>
          <a:p>
            <a:pPr algn="ctr"/>
            <a:r>
              <a:rPr sz="800" b="0" i="0">
                <a:solidFill>
                  <a:srgbClr val="2BAE7B"/>
                </a:solidFill>
                <a:latin typeface="Calibri"/>
              </a:rPr>
              <a:t>Implemented</a:t>
            </a:r>
          </a:p>
        </p:txBody>
      </p:sp>
      <p:sp>
        <p:nvSpPr>
          <p:cNvPr id="18" name="TextBox 17"/>
          <p:cNvSpPr txBox="1"/>
          <p:nvPr/>
        </p:nvSpPr>
        <p:spPr>
          <a:xfrm>
            <a:off x="3451859" y="1719072"/>
            <a:ext cx="228600" cy="365760"/>
          </a:xfrm>
          <a:prstGeom prst="rect">
            <a:avLst/>
          </a:prstGeom>
          <a:noFill/>
        </p:spPr>
        <p:txBody>
          <a:bodyPr wrap="square">
            <a:spAutoFit/>
          </a:bodyPr>
          <a:lstStyle/>
          <a:p>
            <a:pPr algn="ctr"/>
            <a:r>
              <a:rPr sz="1400" b="1" i="0">
                <a:solidFill>
                  <a:srgbClr val="DED5C8"/>
                </a:solidFill>
                <a:latin typeface="Calibri"/>
              </a:rPr>
              <a:t>→</a:t>
            </a:r>
          </a:p>
        </p:txBody>
      </p:sp>
      <p:sp>
        <p:nvSpPr>
          <p:cNvPr id="19" name="Oval 18"/>
          <p:cNvSpPr/>
          <p:nvPr/>
        </p:nvSpPr>
        <p:spPr>
          <a:xfrm>
            <a:off x="3771899" y="1645920"/>
            <a:ext cx="548640" cy="548640"/>
          </a:xfrm>
          <a:prstGeom prst="ellipse">
            <a:avLst/>
          </a:prstGeom>
          <a:solidFill>
            <a:srgbClr val="2BAE7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i="0">
                <a:solidFill>
                  <a:srgbClr val="FFFFFF"/>
                </a:solidFill>
                <a:latin typeface="Calibri"/>
              </a:rPr>
              <a:t>4</a:t>
            </a:r>
          </a:p>
        </p:txBody>
      </p:sp>
      <p:sp>
        <p:nvSpPr>
          <p:cNvPr id="20" name="TextBox 19"/>
          <p:cNvSpPr txBox="1"/>
          <p:nvPr/>
        </p:nvSpPr>
        <p:spPr>
          <a:xfrm>
            <a:off x="3589019" y="2286000"/>
            <a:ext cx="914400" cy="548640"/>
          </a:xfrm>
          <a:prstGeom prst="rect">
            <a:avLst/>
          </a:prstGeom>
          <a:noFill/>
        </p:spPr>
        <p:txBody>
          <a:bodyPr wrap="square">
            <a:spAutoFit/>
          </a:bodyPr>
          <a:lstStyle/>
          <a:p>
            <a:pPr algn="ctr"/>
            <a:r>
              <a:rPr sz="900" b="0" i="0">
                <a:solidFill>
                  <a:srgbClr val="332F3A"/>
                </a:solidFill>
                <a:latin typeface="Calibri"/>
              </a:rPr>
              <a:t>Detect
Drift</a:t>
            </a:r>
          </a:p>
        </p:txBody>
      </p:sp>
      <p:sp>
        <p:nvSpPr>
          <p:cNvPr id="21" name="TextBox 20"/>
          <p:cNvSpPr txBox="1"/>
          <p:nvPr/>
        </p:nvSpPr>
        <p:spPr>
          <a:xfrm>
            <a:off x="3589019" y="2788920"/>
            <a:ext cx="914400" cy="274320"/>
          </a:xfrm>
          <a:prstGeom prst="rect">
            <a:avLst/>
          </a:prstGeom>
          <a:noFill/>
        </p:spPr>
        <p:txBody>
          <a:bodyPr wrap="square">
            <a:spAutoFit/>
          </a:bodyPr>
          <a:lstStyle/>
          <a:p>
            <a:pPr algn="ctr"/>
            <a:r>
              <a:rPr sz="800" b="0" i="0">
                <a:solidFill>
                  <a:srgbClr val="2BAE7B"/>
                </a:solidFill>
                <a:latin typeface="Calibri"/>
              </a:rPr>
              <a:t>Implemented</a:t>
            </a:r>
          </a:p>
        </p:txBody>
      </p:sp>
      <p:sp>
        <p:nvSpPr>
          <p:cNvPr id="22" name="TextBox 21"/>
          <p:cNvSpPr txBox="1"/>
          <p:nvPr/>
        </p:nvSpPr>
        <p:spPr>
          <a:xfrm>
            <a:off x="4503419" y="1719072"/>
            <a:ext cx="228600" cy="365760"/>
          </a:xfrm>
          <a:prstGeom prst="rect">
            <a:avLst/>
          </a:prstGeom>
          <a:noFill/>
        </p:spPr>
        <p:txBody>
          <a:bodyPr wrap="square">
            <a:spAutoFit/>
          </a:bodyPr>
          <a:lstStyle/>
          <a:p>
            <a:pPr algn="ctr"/>
            <a:r>
              <a:rPr sz="1400" b="1" i="0">
                <a:solidFill>
                  <a:srgbClr val="DED5C8"/>
                </a:solidFill>
                <a:latin typeface="Calibri"/>
              </a:rPr>
              <a:t>→</a:t>
            </a:r>
          </a:p>
        </p:txBody>
      </p:sp>
      <p:sp>
        <p:nvSpPr>
          <p:cNvPr id="23" name="Oval 22"/>
          <p:cNvSpPr/>
          <p:nvPr/>
        </p:nvSpPr>
        <p:spPr>
          <a:xfrm>
            <a:off x="4823459" y="1645920"/>
            <a:ext cx="548640" cy="548640"/>
          </a:xfrm>
          <a:prstGeom prst="ellipse">
            <a:avLst/>
          </a:prstGeom>
          <a:solidFill>
            <a:srgbClr val="2BAE7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i="0">
                <a:solidFill>
                  <a:srgbClr val="FFFFFF"/>
                </a:solidFill>
                <a:latin typeface="Calibri"/>
              </a:rPr>
              <a:t>5</a:t>
            </a:r>
          </a:p>
        </p:txBody>
      </p:sp>
      <p:sp>
        <p:nvSpPr>
          <p:cNvPr id="24" name="TextBox 23"/>
          <p:cNvSpPr txBox="1"/>
          <p:nvPr/>
        </p:nvSpPr>
        <p:spPr>
          <a:xfrm>
            <a:off x="4640579" y="2286000"/>
            <a:ext cx="914400" cy="548640"/>
          </a:xfrm>
          <a:prstGeom prst="rect">
            <a:avLst/>
          </a:prstGeom>
          <a:noFill/>
        </p:spPr>
        <p:txBody>
          <a:bodyPr wrap="square">
            <a:spAutoFit/>
          </a:bodyPr>
          <a:lstStyle/>
          <a:p>
            <a:pPr algn="ctr"/>
            <a:r>
              <a:rPr sz="900" b="0" i="0">
                <a:solidFill>
                  <a:srgbClr val="332F3A"/>
                </a:solidFill>
                <a:latin typeface="Calibri"/>
              </a:rPr>
              <a:t>Generate
Repair Plan</a:t>
            </a:r>
          </a:p>
        </p:txBody>
      </p:sp>
      <p:sp>
        <p:nvSpPr>
          <p:cNvPr id="25" name="TextBox 24"/>
          <p:cNvSpPr txBox="1"/>
          <p:nvPr/>
        </p:nvSpPr>
        <p:spPr>
          <a:xfrm>
            <a:off x="4640579" y="2788920"/>
            <a:ext cx="914400" cy="274320"/>
          </a:xfrm>
          <a:prstGeom prst="rect">
            <a:avLst/>
          </a:prstGeom>
          <a:noFill/>
        </p:spPr>
        <p:txBody>
          <a:bodyPr wrap="square">
            <a:spAutoFit/>
          </a:bodyPr>
          <a:lstStyle/>
          <a:p>
            <a:pPr algn="ctr"/>
            <a:r>
              <a:rPr sz="800" b="0" i="0">
                <a:solidFill>
                  <a:srgbClr val="2BAE7B"/>
                </a:solidFill>
                <a:latin typeface="Calibri"/>
              </a:rPr>
              <a:t>Implemented</a:t>
            </a:r>
          </a:p>
        </p:txBody>
      </p:sp>
      <p:sp>
        <p:nvSpPr>
          <p:cNvPr id="26" name="TextBox 25"/>
          <p:cNvSpPr txBox="1"/>
          <p:nvPr/>
        </p:nvSpPr>
        <p:spPr>
          <a:xfrm>
            <a:off x="5554979" y="1719072"/>
            <a:ext cx="228600" cy="365760"/>
          </a:xfrm>
          <a:prstGeom prst="rect">
            <a:avLst/>
          </a:prstGeom>
          <a:noFill/>
        </p:spPr>
        <p:txBody>
          <a:bodyPr wrap="square">
            <a:spAutoFit/>
          </a:bodyPr>
          <a:lstStyle/>
          <a:p>
            <a:pPr algn="ctr"/>
            <a:r>
              <a:rPr sz="1400" b="1" i="0">
                <a:solidFill>
                  <a:srgbClr val="DED5C8"/>
                </a:solidFill>
                <a:latin typeface="Calibri"/>
              </a:rPr>
              <a:t>→</a:t>
            </a:r>
          </a:p>
        </p:txBody>
      </p:sp>
      <p:sp>
        <p:nvSpPr>
          <p:cNvPr id="27" name="Oval 26"/>
          <p:cNvSpPr/>
          <p:nvPr/>
        </p:nvSpPr>
        <p:spPr>
          <a:xfrm>
            <a:off x="5875020" y="1645920"/>
            <a:ext cx="548640" cy="548640"/>
          </a:xfrm>
          <a:prstGeom prst="ellipse">
            <a:avLst/>
          </a:prstGeom>
          <a:solidFill>
            <a:srgbClr val="2BAE7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i="0">
                <a:solidFill>
                  <a:srgbClr val="FFFFFF"/>
                </a:solidFill>
                <a:latin typeface="Calibri"/>
              </a:rPr>
              <a:t>6</a:t>
            </a:r>
          </a:p>
        </p:txBody>
      </p:sp>
      <p:sp>
        <p:nvSpPr>
          <p:cNvPr id="28" name="TextBox 27"/>
          <p:cNvSpPr txBox="1"/>
          <p:nvPr/>
        </p:nvSpPr>
        <p:spPr>
          <a:xfrm>
            <a:off x="5692140" y="2286000"/>
            <a:ext cx="914400" cy="548640"/>
          </a:xfrm>
          <a:prstGeom prst="rect">
            <a:avLst/>
          </a:prstGeom>
          <a:noFill/>
        </p:spPr>
        <p:txBody>
          <a:bodyPr wrap="square">
            <a:spAutoFit/>
          </a:bodyPr>
          <a:lstStyle/>
          <a:p>
            <a:pPr algn="ctr"/>
            <a:r>
              <a:rPr sz="900" b="0" i="0">
                <a:solidFill>
                  <a:srgbClr val="332F3A"/>
                </a:solidFill>
                <a:latin typeface="Calibri"/>
              </a:rPr>
              <a:t>Human
Approval</a:t>
            </a:r>
          </a:p>
        </p:txBody>
      </p:sp>
      <p:sp>
        <p:nvSpPr>
          <p:cNvPr id="29" name="TextBox 28"/>
          <p:cNvSpPr txBox="1"/>
          <p:nvPr/>
        </p:nvSpPr>
        <p:spPr>
          <a:xfrm>
            <a:off x="5692140" y="2788920"/>
            <a:ext cx="914400" cy="274320"/>
          </a:xfrm>
          <a:prstGeom prst="rect">
            <a:avLst/>
          </a:prstGeom>
          <a:noFill/>
        </p:spPr>
        <p:txBody>
          <a:bodyPr wrap="square">
            <a:spAutoFit/>
          </a:bodyPr>
          <a:lstStyle/>
          <a:p>
            <a:pPr algn="ctr"/>
            <a:r>
              <a:rPr sz="800" b="0" i="0">
                <a:solidFill>
                  <a:srgbClr val="2BAE7B"/>
                </a:solidFill>
                <a:latin typeface="Calibri"/>
              </a:rPr>
              <a:t>Implemented</a:t>
            </a:r>
          </a:p>
        </p:txBody>
      </p:sp>
      <p:sp>
        <p:nvSpPr>
          <p:cNvPr id="30" name="TextBox 29"/>
          <p:cNvSpPr txBox="1"/>
          <p:nvPr/>
        </p:nvSpPr>
        <p:spPr>
          <a:xfrm>
            <a:off x="6606540" y="1719072"/>
            <a:ext cx="228600" cy="365760"/>
          </a:xfrm>
          <a:prstGeom prst="rect">
            <a:avLst/>
          </a:prstGeom>
          <a:noFill/>
        </p:spPr>
        <p:txBody>
          <a:bodyPr wrap="square">
            <a:spAutoFit/>
          </a:bodyPr>
          <a:lstStyle/>
          <a:p>
            <a:pPr algn="ctr"/>
            <a:r>
              <a:rPr sz="1400" b="1" i="0">
                <a:solidFill>
                  <a:srgbClr val="DED5C8"/>
                </a:solidFill>
                <a:latin typeface="Calibri"/>
              </a:rPr>
              <a:t>→</a:t>
            </a:r>
          </a:p>
        </p:txBody>
      </p:sp>
      <p:sp>
        <p:nvSpPr>
          <p:cNvPr id="31" name="Oval 30"/>
          <p:cNvSpPr/>
          <p:nvPr/>
        </p:nvSpPr>
        <p:spPr>
          <a:xfrm>
            <a:off x="6926579" y="1645920"/>
            <a:ext cx="548640" cy="548640"/>
          </a:xfrm>
          <a:prstGeom prst="ellipse">
            <a:avLst/>
          </a:prstGeom>
          <a:solidFill>
            <a:srgbClr val="2BAE7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i="0">
                <a:solidFill>
                  <a:srgbClr val="FFFFFF"/>
                </a:solidFill>
                <a:latin typeface="Calibri"/>
              </a:rPr>
              <a:t>7</a:t>
            </a:r>
          </a:p>
        </p:txBody>
      </p:sp>
      <p:sp>
        <p:nvSpPr>
          <p:cNvPr id="32" name="TextBox 31"/>
          <p:cNvSpPr txBox="1"/>
          <p:nvPr/>
        </p:nvSpPr>
        <p:spPr>
          <a:xfrm>
            <a:off x="6743699" y="2286000"/>
            <a:ext cx="914400" cy="548640"/>
          </a:xfrm>
          <a:prstGeom prst="rect">
            <a:avLst/>
          </a:prstGeom>
          <a:noFill/>
        </p:spPr>
        <p:txBody>
          <a:bodyPr wrap="square">
            <a:spAutoFit/>
          </a:bodyPr>
          <a:lstStyle/>
          <a:p>
            <a:pPr algn="ctr"/>
            <a:r>
              <a:rPr sz="900" b="0" i="0">
                <a:solidFill>
                  <a:srgbClr val="332F3A"/>
                </a:solidFill>
                <a:latin typeface="Calibri"/>
              </a:rPr>
              <a:t>Execute
Repair</a:t>
            </a:r>
          </a:p>
        </p:txBody>
      </p:sp>
      <p:sp>
        <p:nvSpPr>
          <p:cNvPr id="33" name="TextBox 32"/>
          <p:cNvSpPr txBox="1"/>
          <p:nvPr/>
        </p:nvSpPr>
        <p:spPr>
          <a:xfrm>
            <a:off x="6743699" y="2788920"/>
            <a:ext cx="914400" cy="274320"/>
          </a:xfrm>
          <a:prstGeom prst="rect">
            <a:avLst/>
          </a:prstGeom>
          <a:noFill/>
        </p:spPr>
        <p:txBody>
          <a:bodyPr wrap="square">
            <a:spAutoFit/>
          </a:bodyPr>
          <a:lstStyle/>
          <a:p>
            <a:pPr algn="ctr"/>
            <a:r>
              <a:rPr sz="800" b="0" i="0">
                <a:solidFill>
                  <a:srgbClr val="2BAE7B"/>
                </a:solidFill>
                <a:latin typeface="Calibri"/>
              </a:rPr>
              <a:t>Implemented</a:t>
            </a:r>
          </a:p>
        </p:txBody>
      </p:sp>
      <p:sp>
        <p:nvSpPr>
          <p:cNvPr id="34" name="TextBox 33"/>
          <p:cNvSpPr txBox="1"/>
          <p:nvPr/>
        </p:nvSpPr>
        <p:spPr>
          <a:xfrm>
            <a:off x="7658100" y="1719072"/>
            <a:ext cx="228600" cy="365760"/>
          </a:xfrm>
          <a:prstGeom prst="rect">
            <a:avLst/>
          </a:prstGeom>
          <a:noFill/>
        </p:spPr>
        <p:txBody>
          <a:bodyPr wrap="square">
            <a:spAutoFit/>
          </a:bodyPr>
          <a:lstStyle/>
          <a:p>
            <a:pPr algn="ctr"/>
            <a:r>
              <a:rPr sz="1400" b="1" i="0">
                <a:solidFill>
                  <a:srgbClr val="DED5C8"/>
                </a:solidFill>
                <a:latin typeface="Calibri"/>
              </a:rPr>
              <a:t>→</a:t>
            </a:r>
          </a:p>
        </p:txBody>
      </p:sp>
      <p:sp>
        <p:nvSpPr>
          <p:cNvPr id="35" name="Oval 34"/>
          <p:cNvSpPr/>
          <p:nvPr/>
        </p:nvSpPr>
        <p:spPr>
          <a:xfrm>
            <a:off x="7978139" y="1645920"/>
            <a:ext cx="548640" cy="548640"/>
          </a:xfrm>
          <a:prstGeom prst="ellipse">
            <a:avLst/>
          </a:prstGeom>
          <a:solidFill>
            <a:srgbClr val="2BAE7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i="0">
                <a:solidFill>
                  <a:srgbClr val="FFFFFF"/>
                </a:solidFill>
                <a:latin typeface="Calibri"/>
              </a:rPr>
              <a:t>8</a:t>
            </a:r>
          </a:p>
        </p:txBody>
      </p:sp>
      <p:sp>
        <p:nvSpPr>
          <p:cNvPr id="36" name="TextBox 35"/>
          <p:cNvSpPr txBox="1"/>
          <p:nvPr/>
        </p:nvSpPr>
        <p:spPr>
          <a:xfrm>
            <a:off x="7795259" y="2286000"/>
            <a:ext cx="914400" cy="548640"/>
          </a:xfrm>
          <a:prstGeom prst="rect">
            <a:avLst/>
          </a:prstGeom>
          <a:noFill/>
        </p:spPr>
        <p:txBody>
          <a:bodyPr wrap="square">
            <a:spAutoFit/>
          </a:bodyPr>
          <a:lstStyle/>
          <a:p>
            <a:pPr algn="ctr"/>
            <a:r>
              <a:rPr sz="900" b="0" i="0">
                <a:solidFill>
                  <a:srgbClr val="332F3A"/>
                </a:solidFill>
                <a:latin typeface="Calibri"/>
              </a:rPr>
              <a:t>Verify &amp;
Audit</a:t>
            </a:r>
          </a:p>
        </p:txBody>
      </p:sp>
      <p:sp>
        <p:nvSpPr>
          <p:cNvPr id="37" name="TextBox 36"/>
          <p:cNvSpPr txBox="1"/>
          <p:nvPr/>
        </p:nvSpPr>
        <p:spPr>
          <a:xfrm>
            <a:off x="7795259" y="2788920"/>
            <a:ext cx="914400" cy="274320"/>
          </a:xfrm>
          <a:prstGeom prst="rect">
            <a:avLst/>
          </a:prstGeom>
          <a:noFill/>
        </p:spPr>
        <p:txBody>
          <a:bodyPr wrap="square">
            <a:spAutoFit/>
          </a:bodyPr>
          <a:lstStyle/>
          <a:p>
            <a:pPr algn="ctr"/>
            <a:r>
              <a:rPr sz="800" b="0" i="0">
                <a:solidFill>
                  <a:srgbClr val="2BAE7B"/>
                </a:solidFill>
                <a:latin typeface="Calibri"/>
              </a:rPr>
              <a:t>Implemented</a:t>
            </a:r>
          </a:p>
        </p:txBody>
      </p:sp>
      <p:sp>
        <p:nvSpPr>
          <p:cNvPr id="38" name="Rounded Rectangle 37"/>
          <p:cNvSpPr/>
          <p:nvPr/>
        </p:nvSpPr>
        <p:spPr>
          <a:xfrm>
            <a:off x="457200" y="3383280"/>
            <a:ext cx="8229600" cy="2286000"/>
          </a:xfrm>
          <a:prstGeom prst="roundRect">
            <a:avLst>
              <a:gd name="adj" fmla="val 5000"/>
            </a:avLst>
          </a:prstGeom>
          <a:solidFill>
            <a:srgbClr val="FFFDF9"/>
          </a:solidFill>
          <a:ln w="12700">
            <a:solidFill>
              <a:srgbClr val="DED5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i="0" dirty="0">
                <a:solidFill>
                  <a:srgbClr val="7865A5"/>
                </a:solidFill>
                <a:latin typeface="Calibri"/>
              </a:rPr>
              <a:t>Implementation Notes</a:t>
            </a:r>
          </a:p>
          <a:p>
            <a:pPr>
              <a:spcBef>
                <a:spcPts val="400"/>
              </a:spcBef>
            </a:pPr>
            <a:r>
              <a:rPr sz="1000" b="0" i="0" dirty="0">
                <a:solidFill>
                  <a:srgbClr val="595260"/>
                </a:solidFill>
                <a:latin typeface="Calibri"/>
              </a:rPr>
              <a:t>▸ All 8 pipeline stages have implemented backend services, models, and management commands.</a:t>
            </a:r>
          </a:p>
          <a:p>
            <a:pPr>
              <a:spcBef>
                <a:spcPts val="400"/>
              </a:spcBef>
            </a:pPr>
            <a:r>
              <a:rPr sz="1000" b="0" i="0" dirty="0">
                <a:solidFill>
                  <a:srgbClr val="595260"/>
                </a:solidFill>
                <a:latin typeface="Calibri"/>
              </a:rPr>
              <a:t>▸ The reconciliation engine evaluates all active rules against multi-system collected state.</a:t>
            </a:r>
          </a:p>
          <a:p>
            <a:pPr>
              <a:spcBef>
                <a:spcPts val="400"/>
              </a:spcBef>
            </a:pPr>
            <a:r>
              <a:rPr sz="1000" b="0" i="0" dirty="0">
                <a:solidFill>
                  <a:srgbClr val="595260"/>
                </a:solidFill>
                <a:latin typeface="Calibri"/>
              </a:rPr>
              <a:t>▸ Repair execution is command-triggered (not continuous/scheduled). No Celery integration yet.</a:t>
            </a:r>
          </a:p>
          <a:p>
            <a:pPr>
              <a:spcBef>
                <a:spcPts val="400"/>
              </a:spcBef>
            </a:pPr>
            <a:r>
              <a:rPr sz="1000" b="0" i="0" dirty="0">
                <a:solidFill>
                  <a:srgbClr val="595260"/>
                </a:solidFill>
                <a:latin typeface="Calibri"/>
              </a:rPr>
              <a:t>▸ Post-repair verification empirically re-queries the target system to confirm correction.</a:t>
            </a:r>
          </a:p>
          <a:p>
            <a:pPr>
              <a:spcBef>
                <a:spcPts val="400"/>
              </a:spcBef>
            </a:pPr>
            <a:r>
              <a:rPr sz="1000" b="0" i="0" dirty="0">
                <a:solidFill>
                  <a:srgbClr val="595260"/>
                </a:solidFill>
                <a:latin typeface="Calibri"/>
              </a:rPr>
              <a:t>▸ The full lifecycle (termination → detection → repair → verification → resolution) is verified by the E2E test suite.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0E8"/>
        </a:solidFill>
        <a:effectLst/>
      </p:bgPr>
    </p:bg>
    <p:spTree>
      <p:nvGrpSpPr>
        <p:cNvPr id="1" name=""/>
        <p:cNvGrpSpPr/>
        <p:nvPr/>
      </p:nvGrpSpPr>
      <p:grpSpPr>
        <a:xfrm>
          <a:off x="0" y="0"/>
          <a:ext cx="0" cy="0"/>
          <a:chOff x="0" y="0"/>
          <a:chExt cx="0" cy="0"/>
        </a:xfrm>
      </p:grpSpPr>
      <p:sp>
        <p:nvSpPr>
          <p:cNvPr id="2" name="Rectangle 1"/>
          <p:cNvSpPr/>
          <p:nvPr/>
        </p:nvSpPr>
        <p:spPr>
          <a:xfrm>
            <a:off x="457200" y="411480"/>
            <a:ext cx="201168" cy="457200"/>
          </a:xfrm>
          <a:prstGeom prst="rect">
            <a:avLst/>
          </a:prstGeom>
          <a:solidFill>
            <a:srgbClr val="786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320040"/>
            <a:ext cx="7315200" cy="502920"/>
          </a:xfrm>
          <a:prstGeom prst="rect">
            <a:avLst/>
          </a:prstGeom>
          <a:noFill/>
        </p:spPr>
        <p:txBody>
          <a:bodyPr wrap="square">
            <a:spAutoFit/>
          </a:bodyPr>
          <a:lstStyle/>
          <a:p>
            <a:pPr algn="l"/>
            <a:r>
              <a:rPr sz="2200" b="1" i="0">
                <a:solidFill>
                  <a:srgbClr val="332F3A"/>
                </a:solidFill>
                <a:latin typeface="Calibri"/>
              </a:rPr>
              <a:t>Employee Management — HR System of Record</a:t>
            </a:r>
          </a:p>
        </p:txBody>
      </p:sp>
      <p:sp>
        <p:nvSpPr>
          <p:cNvPr id="4" name="TextBox 3"/>
          <p:cNvSpPr txBox="1"/>
          <p:nvPr/>
        </p:nvSpPr>
        <p:spPr>
          <a:xfrm>
            <a:off x="822960" y="749808"/>
            <a:ext cx="7315200" cy="320040"/>
          </a:xfrm>
          <a:prstGeom prst="rect">
            <a:avLst/>
          </a:prstGeom>
          <a:noFill/>
        </p:spPr>
        <p:txBody>
          <a:bodyPr wrap="square">
            <a:spAutoFit/>
          </a:bodyPr>
          <a:lstStyle/>
          <a:p>
            <a:pPr algn="l"/>
            <a:r>
              <a:rPr sz="1100" b="0" i="0">
                <a:solidFill>
                  <a:srgbClr val="7E7684"/>
                </a:solidFill>
                <a:latin typeface="Calibri"/>
              </a:rPr>
              <a:t>apps.employees · UUID identifiers · ACTIVE/TERMINATED lifecycle</a:t>
            </a:r>
          </a:p>
        </p:txBody>
      </p:sp>
      <p:sp>
        <p:nvSpPr>
          <p:cNvPr id="5" name="TextBox 4"/>
          <p:cNvSpPr txBox="1"/>
          <p:nvPr/>
        </p:nvSpPr>
        <p:spPr>
          <a:xfrm>
            <a:off x="457200" y="6400800"/>
            <a:ext cx="7772400" cy="320040"/>
          </a:xfrm>
          <a:prstGeom prst="rect">
            <a:avLst/>
          </a:prstGeom>
          <a:noFill/>
        </p:spPr>
        <p:txBody>
          <a:bodyPr wrap="square">
            <a:spAutoFit/>
          </a:bodyPr>
          <a:lstStyle/>
          <a:p>
            <a:pPr>
              <a:defRPr sz="800">
                <a:solidFill>
                  <a:srgbClr val="7E7684"/>
                </a:solidFill>
                <a:latin typeface="Calibri"/>
              </a:defRPr>
            </a:pPr>
            <a:r>
              <a:t>ReconcileOS — Continuous Integrity Platform  |  Slide 6</a:t>
            </a:r>
          </a:p>
        </p:txBody>
      </p:sp>
      <p:sp>
        <p:nvSpPr>
          <p:cNvPr id="6" name="Rectangle 5"/>
          <p:cNvSpPr/>
          <p:nvPr/>
        </p:nvSpPr>
        <p:spPr>
          <a:xfrm>
            <a:off x="457200" y="6327648"/>
            <a:ext cx="8229600" cy="19050"/>
          </a:xfrm>
          <a:prstGeom prst="rect">
            <a:avLst/>
          </a:prstGeom>
          <a:solidFill>
            <a:srgbClr val="DED5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234440"/>
            <a:ext cx="5029200" cy="4726935"/>
          </a:xfrm>
          <a:prstGeom prst="rect">
            <a:avLst/>
          </a:prstGeom>
          <a:noFill/>
        </p:spPr>
        <p:txBody>
          <a:bodyPr wrap="square">
            <a:spAutoFit/>
          </a:bodyPr>
          <a:lstStyle/>
          <a:p>
            <a:pPr>
              <a:spcAft>
                <a:spcPts val="500"/>
              </a:spcAft>
            </a:pPr>
            <a:r>
              <a:rPr sz="1600" b="1" i="0" dirty="0">
                <a:solidFill>
                  <a:srgbClr val="7865A5"/>
                </a:solidFill>
                <a:latin typeface="Calibri"/>
              </a:rPr>
              <a:t>▸ </a:t>
            </a:r>
            <a:r>
              <a:rPr sz="1600" b="0" i="0" dirty="0">
                <a:solidFill>
                  <a:srgbClr val="332F3A"/>
                </a:solidFill>
                <a:latin typeface="Calibri"/>
              </a:rPr>
              <a:t>Employee model with UUIDv4 primary keys — each employee has a globally unique identifier.</a:t>
            </a:r>
          </a:p>
          <a:p>
            <a:pPr>
              <a:spcAft>
                <a:spcPts val="500"/>
              </a:spcAft>
            </a:pPr>
            <a:r>
              <a:rPr sz="1600" b="1" i="0" dirty="0">
                <a:solidFill>
                  <a:srgbClr val="7865A5"/>
                </a:solidFill>
                <a:latin typeface="Calibri"/>
              </a:rPr>
              <a:t>▸ </a:t>
            </a:r>
            <a:r>
              <a:rPr sz="1600" b="0" i="0" dirty="0">
                <a:solidFill>
                  <a:srgbClr val="332F3A"/>
                </a:solidFill>
                <a:latin typeface="Calibri"/>
              </a:rPr>
              <a:t>Lifecycle states: ACTIVE (default) and TERMINATED, with explicit terminate() model method.</a:t>
            </a:r>
          </a:p>
          <a:p>
            <a:pPr>
              <a:spcAft>
                <a:spcPts val="500"/>
              </a:spcAft>
            </a:pPr>
            <a:r>
              <a:rPr sz="1600" b="1" i="0" dirty="0">
                <a:solidFill>
                  <a:srgbClr val="7865A5"/>
                </a:solidFill>
                <a:latin typeface="Calibri"/>
              </a:rPr>
              <a:t>▸ </a:t>
            </a:r>
            <a:r>
              <a:rPr sz="1600" b="0" i="0" dirty="0">
                <a:solidFill>
                  <a:srgbClr val="332F3A"/>
                </a:solidFill>
                <a:latin typeface="Calibri"/>
              </a:rPr>
              <a:t>Fields: </a:t>
            </a:r>
            <a:r>
              <a:rPr sz="1600" b="0" i="0" dirty="0" err="1">
                <a:solidFill>
                  <a:srgbClr val="332F3A"/>
                </a:solidFill>
                <a:latin typeface="Calibri"/>
              </a:rPr>
              <a:t>full_name</a:t>
            </a:r>
            <a:r>
              <a:rPr sz="1600" b="0" i="0" dirty="0">
                <a:solidFill>
                  <a:srgbClr val="332F3A"/>
                </a:solidFill>
                <a:latin typeface="Calibri"/>
              </a:rPr>
              <a:t>, email (unique, indexed), department, status, </a:t>
            </a:r>
            <a:r>
              <a:rPr sz="1600" b="0" i="0" dirty="0" err="1">
                <a:solidFill>
                  <a:srgbClr val="332F3A"/>
                </a:solidFill>
                <a:latin typeface="Calibri"/>
              </a:rPr>
              <a:t>created_at</a:t>
            </a:r>
            <a:r>
              <a:rPr sz="1600" b="0" i="0" dirty="0">
                <a:solidFill>
                  <a:srgbClr val="332F3A"/>
                </a:solidFill>
                <a:latin typeface="Calibri"/>
              </a:rPr>
              <a:t>, </a:t>
            </a:r>
            <a:r>
              <a:rPr sz="1600" b="0" i="0" dirty="0" err="1">
                <a:solidFill>
                  <a:srgbClr val="332F3A"/>
                </a:solidFill>
                <a:latin typeface="Calibri"/>
              </a:rPr>
              <a:t>updated_at</a:t>
            </a:r>
            <a:r>
              <a:rPr sz="1600" b="0" i="0" dirty="0">
                <a:solidFill>
                  <a:srgbClr val="332F3A"/>
                </a:solidFill>
                <a:latin typeface="Calibri"/>
              </a:rPr>
              <a:t>.</a:t>
            </a:r>
          </a:p>
          <a:p>
            <a:pPr>
              <a:spcAft>
                <a:spcPts val="500"/>
              </a:spcAft>
            </a:pPr>
            <a:r>
              <a:rPr sz="1600" b="1" i="0" dirty="0">
                <a:solidFill>
                  <a:srgbClr val="7865A5"/>
                </a:solidFill>
                <a:latin typeface="Calibri"/>
              </a:rPr>
              <a:t>▸ </a:t>
            </a:r>
            <a:r>
              <a:rPr sz="1600" b="0" i="0" dirty="0">
                <a:solidFill>
                  <a:srgbClr val="332F3A"/>
                </a:solidFill>
                <a:latin typeface="Calibri"/>
              </a:rPr>
              <a:t>Full CRUD API: GET /</a:t>
            </a:r>
            <a:r>
              <a:rPr sz="1600" b="0" i="0" dirty="0" err="1">
                <a:solidFill>
                  <a:srgbClr val="332F3A"/>
                </a:solidFill>
                <a:latin typeface="Calibri"/>
              </a:rPr>
              <a:t>api</a:t>
            </a:r>
            <a:r>
              <a:rPr sz="1600" b="0" i="0" dirty="0">
                <a:solidFill>
                  <a:srgbClr val="332F3A"/>
                </a:solidFill>
                <a:latin typeface="Calibri"/>
              </a:rPr>
              <a:t>/v1/employees/, POST, PUT, PATCH, DELETE endpoints.</a:t>
            </a:r>
          </a:p>
          <a:p>
            <a:pPr>
              <a:spcAft>
                <a:spcPts val="500"/>
              </a:spcAft>
            </a:pPr>
            <a:r>
              <a:rPr sz="1600" b="1" i="0" dirty="0">
                <a:solidFill>
                  <a:srgbClr val="7865A5"/>
                </a:solidFill>
                <a:latin typeface="Calibri"/>
              </a:rPr>
              <a:t>▸ </a:t>
            </a:r>
            <a:r>
              <a:rPr sz="1600" b="0" i="0" dirty="0">
                <a:solidFill>
                  <a:srgbClr val="332F3A"/>
                </a:solidFill>
                <a:latin typeface="Calibri"/>
              </a:rPr>
              <a:t>Explicit termination action: POST /</a:t>
            </a:r>
            <a:r>
              <a:rPr sz="1600" b="0" i="0" dirty="0" err="1">
                <a:solidFill>
                  <a:srgbClr val="332F3A"/>
                </a:solidFill>
                <a:latin typeface="Calibri"/>
              </a:rPr>
              <a:t>api</a:t>
            </a:r>
            <a:r>
              <a:rPr sz="1600" b="0" i="0" dirty="0">
                <a:solidFill>
                  <a:srgbClr val="332F3A"/>
                </a:solidFill>
                <a:latin typeface="Calibri"/>
              </a:rPr>
              <a:t>/v1/employees/&lt;</a:t>
            </a:r>
            <a:r>
              <a:rPr sz="1600" b="0" i="0" dirty="0" err="1">
                <a:solidFill>
                  <a:srgbClr val="332F3A"/>
                </a:solidFill>
                <a:latin typeface="Calibri"/>
              </a:rPr>
              <a:t>uuid</a:t>
            </a:r>
            <a:r>
              <a:rPr sz="1600" b="0" i="0" dirty="0">
                <a:solidFill>
                  <a:srgbClr val="332F3A"/>
                </a:solidFill>
                <a:latin typeface="Calibri"/>
              </a:rPr>
              <a:t>&gt;/terminate/ — sets status to TERMINATED.</a:t>
            </a:r>
          </a:p>
          <a:p>
            <a:pPr>
              <a:spcAft>
                <a:spcPts val="500"/>
              </a:spcAft>
            </a:pPr>
            <a:r>
              <a:rPr sz="1600" b="1" i="0" dirty="0">
                <a:solidFill>
                  <a:srgbClr val="7865A5"/>
                </a:solidFill>
                <a:latin typeface="Calibri"/>
              </a:rPr>
              <a:t>▸ </a:t>
            </a:r>
            <a:r>
              <a:rPr sz="1600" b="0" i="0" dirty="0">
                <a:solidFill>
                  <a:srgbClr val="332F3A"/>
                </a:solidFill>
                <a:latin typeface="Calibri"/>
              </a:rPr>
              <a:t>Paginated, filterable, searchable list endpoints via </a:t>
            </a:r>
            <a:r>
              <a:rPr sz="1600" b="0" i="0" dirty="0" err="1">
                <a:solidFill>
                  <a:srgbClr val="332F3A"/>
                </a:solidFill>
                <a:latin typeface="Calibri"/>
              </a:rPr>
              <a:t>django</a:t>
            </a:r>
            <a:r>
              <a:rPr sz="1600" b="0" i="0" dirty="0">
                <a:solidFill>
                  <a:srgbClr val="332F3A"/>
                </a:solidFill>
                <a:latin typeface="Calibri"/>
              </a:rPr>
              <a:t>-filter.</a:t>
            </a:r>
          </a:p>
          <a:p>
            <a:pPr>
              <a:spcAft>
                <a:spcPts val="500"/>
              </a:spcAft>
            </a:pPr>
            <a:r>
              <a:rPr sz="1600" b="1" i="0" dirty="0">
                <a:solidFill>
                  <a:srgbClr val="7865A5"/>
                </a:solidFill>
                <a:latin typeface="Calibri"/>
              </a:rPr>
              <a:t>▸ </a:t>
            </a:r>
            <a:r>
              <a:rPr sz="1600" b="0" i="0" dirty="0">
                <a:solidFill>
                  <a:srgbClr val="332F3A"/>
                </a:solidFill>
                <a:latin typeface="Calibri"/>
              </a:rPr>
              <a:t>Frontend </a:t>
            </a:r>
            <a:r>
              <a:rPr sz="1600" b="0" i="0" dirty="0" err="1">
                <a:solidFill>
                  <a:srgbClr val="332F3A"/>
                </a:solidFill>
                <a:latin typeface="Calibri"/>
              </a:rPr>
              <a:t>EmployeesPage</a:t>
            </a:r>
            <a:r>
              <a:rPr sz="1600" b="0" i="0" dirty="0">
                <a:solidFill>
                  <a:srgbClr val="332F3A"/>
                </a:solidFill>
                <a:latin typeface="Calibri"/>
              </a:rPr>
              <a:t> wired to real API: Add, View, Edit, Terminate operations.</a:t>
            </a:r>
          </a:p>
          <a:p>
            <a:pPr>
              <a:spcAft>
                <a:spcPts val="500"/>
              </a:spcAft>
            </a:pPr>
            <a:r>
              <a:rPr sz="1600" b="1" i="0" dirty="0">
                <a:solidFill>
                  <a:srgbClr val="7865A5"/>
                </a:solidFill>
                <a:latin typeface="Calibri"/>
              </a:rPr>
              <a:t>▸ </a:t>
            </a:r>
            <a:r>
              <a:rPr sz="1600" b="0" i="0" dirty="0">
                <a:solidFill>
                  <a:srgbClr val="332F3A"/>
                </a:solidFill>
                <a:latin typeface="Calibri"/>
              </a:rPr>
              <a:t>13 automated unit and integration tests covering all CRUD operations and edge cases.</a:t>
            </a:r>
          </a:p>
        </p:txBody>
      </p:sp>
      <p:sp>
        <p:nvSpPr>
          <p:cNvPr id="8" name="Rounded Rectangle 7"/>
          <p:cNvSpPr/>
          <p:nvPr/>
        </p:nvSpPr>
        <p:spPr>
          <a:xfrm>
            <a:off x="5852160" y="1234439"/>
            <a:ext cx="2834640" cy="4726935"/>
          </a:xfrm>
          <a:prstGeom prst="roundRect">
            <a:avLst>
              <a:gd name="adj" fmla="val 5000"/>
            </a:avLst>
          </a:prstGeom>
          <a:solidFill>
            <a:srgbClr val="FFFDF9"/>
          </a:solidFill>
          <a:ln w="12700">
            <a:solidFill>
              <a:srgbClr val="7865A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b="1" i="0" dirty="0">
                <a:solidFill>
                  <a:srgbClr val="7865A5"/>
                </a:solidFill>
                <a:latin typeface="Calibri"/>
              </a:rPr>
              <a:t>EMPLOYEE MODEL</a:t>
            </a:r>
          </a:p>
          <a:p>
            <a:pPr>
              <a:spcBef>
                <a:spcPts val="200"/>
              </a:spcBef>
            </a:pPr>
            <a:r>
              <a:rPr sz="1600" b="0" i="0" dirty="0">
                <a:solidFill>
                  <a:srgbClr val="595260"/>
                </a:solidFill>
                <a:latin typeface="Calibri Light"/>
              </a:rPr>
              <a:t>id: </a:t>
            </a:r>
            <a:r>
              <a:rPr sz="1600" b="0" i="0" dirty="0" err="1">
                <a:solidFill>
                  <a:srgbClr val="595260"/>
                </a:solidFill>
                <a:latin typeface="Calibri Light"/>
              </a:rPr>
              <a:t>UUIDField</a:t>
            </a:r>
            <a:r>
              <a:rPr sz="1600" b="0" i="0" dirty="0">
                <a:solidFill>
                  <a:srgbClr val="595260"/>
                </a:solidFill>
                <a:latin typeface="Calibri Light"/>
              </a:rPr>
              <a:t> (PK)</a:t>
            </a:r>
          </a:p>
          <a:p>
            <a:pPr>
              <a:spcBef>
                <a:spcPts val="200"/>
              </a:spcBef>
            </a:pPr>
            <a:r>
              <a:rPr sz="1600" b="0" i="0" dirty="0" err="1">
                <a:solidFill>
                  <a:srgbClr val="595260"/>
                </a:solidFill>
                <a:latin typeface="Calibri Light"/>
              </a:rPr>
              <a:t>full_name</a:t>
            </a:r>
            <a:r>
              <a:rPr sz="1600" b="0" i="0" dirty="0">
                <a:solidFill>
                  <a:srgbClr val="595260"/>
                </a:solidFill>
                <a:latin typeface="Calibri Light"/>
              </a:rPr>
              <a:t>: </a:t>
            </a:r>
            <a:r>
              <a:rPr sz="1600" b="0" i="0" dirty="0" err="1">
                <a:solidFill>
                  <a:srgbClr val="595260"/>
                </a:solidFill>
                <a:latin typeface="Calibri Light"/>
              </a:rPr>
              <a:t>CharField</a:t>
            </a:r>
            <a:r>
              <a:rPr sz="1600" b="0" i="0" dirty="0">
                <a:solidFill>
                  <a:srgbClr val="595260"/>
                </a:solidFill>
                <a:latin typeface="Calibri Light"/>
              </a:rPr>
              <a:t>(255)</a:t>
            </a:r>
          </a:p>
          <a:p>
            <a:pPr>
              <a:spcBef>
                <a:spcPts val="200"/>
              </a:spcBef>
            </a:pPr>
            <a:r>
              <a:rPr sz="1600" b="0" i="0" dirty="0">
                <a:solidFill>
                  <a:srgbClr val="595260"/>
                </a:solidFill>
                <a:latin typeface="Calibri Light"/>
              </a:rPr>
              <a:t>email: </a:t>
            </a:r>
            <a:r>
              <a:rPr sz="1600" b="0" i="0" dirty="0" err="1">
                <a:solidFill>
                  <a:srgbClr val="595260"/>
                </a:solidFill>
                <a:latin typeface="Calibri Light"/>
              </a:rPr>
              <a:t>EmailField</a:t>
            </a:r>
            <a:r>
              <a:rPr sz="1600" b="0" i="0" dirty="0">
                <a:solidFill>
                  <a:srgbClr val="595260"/>
                </a:solidFill>
                <a:latin typeface="Calibri Light"/>
              </a:rPr>
              <a:t> (unique)</a:t>
            </a:r>
          </a:p>
          <a:p>
            <a:pPr>
              <a:spcBef>
                <a:spcPts val="200"/>
              </a:spcBef>
            </a:pPr>
            <a:r>
              <a:rPr sz="1600" b="0" i="0" dirty="0">
                <a:solidFill>
                  <a:srgbClr val="595260"/>
                </a:solidFill>
                <a:latin typeface="Calibri Light"/>
              </a:rPr>
              <a:t>department: </a:t>
            </a:r>
            <a:r>
              <a:rPr sz="1600" b="0" i="0" dirty="0" err="1">
                <a:solidFill>
                  <a:srgbClr val="595260"/>
                </a:solidFill>
                <a:latin typeface="Calibri Light"/>
              </a:rPr>
              <a:t>CharField</a:t>
            </a:r>
            <a:r>
              <a:rPr sz="1600" b="0" i="0" dirty="0">
                <a:solidFill>
                  <a:srgbClr val="595260"/>
                </a:solidFill>
                <a:latin typeface="Calibri Light"/>
              </a:rPr>
              <a:t>(100)</a:t>
            </a:r>
          </a:p>
          <a:p>
            <a:pPr>
              <a:spcBef>
                <a:spcPts val="200"/>
              </a:spcBef>
            </a:pPr>
            <a:r>
              <a:rPr sz="1600" b="0" i="0" dirty="0">
                <a:solidFill>
                  <a:srgbClr val="595260"/>
                </a:solidFill>
                <a:latin typeface="Calibri Light"/>
              </a:rPr>
              <a:t>status: ACTIVE | TERMINATED</a:t>
            </a:r>
          </a:p>
          <a:p>
            <a:pPr>
              <a:spcBef>
                <a:spcPts val="200"/>
              </a:spcBef>
            </a:pPr>
            <a:r>
              <a:rPr sz="1600" b="0" i="0" dirty="0" err="1">
                <a:solidFill>
                  <a:srgbClr val="595260"/>
                </a:solidFill>
                <a:latin typeface="Calibri Light"/>
              </a:rPr>
              <a:t>created_at</a:t>
            </a:r>
            <a:r>
              <a:rPr sz="1600" b="0" i="0" dirty="0">
                <a:solidFill>
                  <a:srgbClr val="595260"/>
                </a:solidFill>
                <a:latin typeface="Calibri Light"/>
              </a:rPr>
              <a:t>: </a:t>
            </a:r>
            <a:r>
              <a:rPr sz="1600" b="0" i="0" dirty="0" err="1">
                <a:solidFill>
                  <a:srgbClr val="595260"/>
                </a:solidFill>
                <a:latin typeface="Calibri Light"/>
              </a:rPr>
              <a:t>DateTimeField</a:t>
            </a:r>
            <a:endParaRPr sz="1600" b="0" i="0" dirty="0">
              <a:solidFill>
                <a:srgbClr val="595260"/>
              </a:solidFill>
              <a:latin typeface="Calibri Light"/>
            </a:endParaRPr>
          </a:p>
          <a:p>
            <a:pPr>
              <a:spcBef>
                <a:spcPts val="200"/>
              </a:spcBef>
            </a:pPr>
            <a:r>
              <a:rPr sz="1600" b="0" i="0" dirty="0" err="1">
                <a:solidFill>
                  <a:srgbClr val="595260"/>
                </a:solidFill>
                <a:latin typeface="Calibri Light"/>
              </a:rPr>
              <a:t>updated_at</a:t>
            </a:r>
            <a:r>
              <a:rPr sz="1600" b="0" i="0" dirty="0">
                <a:solidFill>
                  <a:srgbClr val="595260"/>
                </a:solidFill>
                <a:latin typeface="Calibri Light"/>
              </a:rPr>
              <a:t>: </a:t>
            </a:r>
            <a:r>
              <a:rPr sz="1600" b="0" i="0" dirty="0" err="1">
                <a:solidFill>
                  <a:srgbClr val="595260"/>
                </a:solidFill>
                <a:latin typeface="Calibri Light"/>
              </a:rPr>
              <a:t>DateTimeField</a:t>
            </a:r>
            <a:endParaRPr sz="1600" b="0" i="0" dirty="0">
              <a:solidFill>
                <a:srgbClr val="595260"/>
              </a:solidFill>
              <a:latin typeface="Calibri Light"/>
            </a:endParaRPr>
          </a:p>
          <a:p>
            <a:pPr>
              <a:spcBef>
                <a:spcPts val="200"/>
              </a:spcBef>
            </a:pPr>
            <a:endParaRPr sz="1600" b="0" i="0" dirty="0">
              <a:solidFill>
                <a:srgbClr val="595260"/>
              </a:solidFill>
              <a:latin typeface="Calibri Light"/>
            </a:endParaRPr>
          </a:p>
          <a:p>
            <a:pPr>
              <a:spcBef>
                <a:spcPts val="200"/>
              </a:spcBef>
            </a:pPr>
            <a:r>
              <a:rPr sz="1600" b="0" i="0" dirty="0">
                <a:solidFill>
                  <a:srgbClr val="595260"/>
                </a:solidFill>
                <a:latin typeface="Calibri Light"/>
              </a:rPr>
              <a:t>Methods:</a:t>
            </a:r>
          </a:p>
          <a:p>
            <a:pPr>
              <a:spcBef>
                <a:spcPts val="200"/>
              </a:spcBef>
            </a:pPr>
            <a:r>
              <a:rPr sz="1600" b="0" i="0" dirty="0">
                <a:solidFill>
                  <a:srgbClr val="595260"/>
                </a:solidFill>
                <a:latin typeface="Calibri Light"/>
              </a:rPr>
              <a:t>  terminate() → bool</a:t>
            </a:r>
          </a:p>
          <a:p>
            <a:pPr>
              <a:spcBef>
                <a:spcPts val="200"/>
              </a:spcBef>
            </a:pPr>
            <a:endParaRPr sz="1600" b="0" i="0" dirty="0">
              <a:solidFill>
                <a:srgbClr val="595260"/>
              </a:solidFill>
              <a:latin typeface="Calibri Light"/>
            </a:endParaRPr>
          </a:p>
          <a:p>
            <a:pPr>
              <a:spcBef>
                <a:spcPts val="200"/>
              </a:spcBef>
            </a:pPr>
            <a:r>
              <a:rPr sz="1600" b="0" i="0" dirty="0">
                <a:solidFill>
                  <a:srgbClr val="595260"/>
                </a:solidFill>
                <a:latin typeface="Calibri Light"/>
              </a:rPr>
              <a:t>Indexes: email, status,</a:t>
            </a:r>
          </a:p>
          <a:p>
            <a:pPr>
              <a:spcBef>
                <a:spcPts val="200"/>
              </a:spcBef>
            </a:pPr>
            <a:r>
              <a:rPr sz="1600" b="0" i="0" dirty="0">
                <a:solidFill>
                  <a:srgbClr val="595260"/>
                </a:solidFill>
                <a:latin typeface="Calibri Light"/>
              </a:rPr>
              <a:t>  department, -</a:t>
            </a:r>
            <a:r>
              <a:rPr sz="1600" b="0" i="0" dirty="0" err="1">
                <a:solidFill>
                  <a:srgbClr val="595260"/>
                </a:solidFill>
                <a:latin typeface="Calibri Light"/>
              </a:rPr>
              <a:t>created_at</a:t>
            </a:r>
            <a:endParaRPr sz="1600" b="0" i="0" dirty="0">
              <a:solidFill>
                <a:srgbClr val="595260"/>
              </a:solidFill>
              <a:latin typeface="Calibri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0E8"/>
        </a:solidFill>
        <a:effectLst/>
      </p:bgPr>
    </p:bg>
    <p:spTree>
      <p:nvGrpSpPr>
        <p:cNvPr id="1" name=""/>
        <p:cNvGrpSpPr/>
        <p:nvPr/>
      </p:nvGrpSpPr>
      <p:grpSpPr>
        <a:xfrm>
          <a:off x="0" y="0"/>
          <a:ext cx="0" cy="0"/>
          <a:chOff x="0" y="0"/>
          <a:chExt cx="0" cy="0"/>
        </a:xfrm>
      </p:grpSpPr>
      <p:sp>
        <p:nvSpPr>
          <p:cNvPr id="2" name="Rectangle 1"/>
          <p:cNvSpPr/>
          <p:nvPr/>
        </p:nvSpPr>
        <p:spPr>
          <a:xfrm>
            <a:off x="457200" y="411480"/>
            <a:ext cx="201168" cy="457200"/>
          </a:xfrm>
          <a:prstGeom prst="rect">
            <a:avLst/>
          </a:prstGeom>
          <a:solidFill>
            <a:srgbClr val="786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320040"/>
            <a:ext cx="7315200" cy="502920"/>
          </a:xfrm>
          <a:prstGeom prst="rect">
            <a:avLst/>
          </a:prstGeom>
          <a:noFill/>
        </p:spPr>
        <p:txBody>
          <a:bodyPr wrap="square">
            <a:spAutoFit/>
          </a:bodyPr>
          <a:lstStyle/>
          <a:p>
            <a:pPr algn="l"/>
            <a:r>
              <a:rPr sz="2200" b="1" i="0">
                <a:solidFill>
                  <a:srgbClr val="332F3A"/>
                </a:solidFill>
                <a:latin typeface="Calibri"/>
              </a:rPr>
              <a:t>Simulated VPN Connector &amp; Downstream Systems</a:t>
            </a:r>
          </a:p>
        </p:txBody>
      </p:sp>
      <p:sp>
        <p:nvSpPr>
          <p:cNvPr id="4" name="TextBox 3"/>
          <p:cNvSpPr txBox="1"/>
          <p:nvPr/>
        </p:nvSpPr>
        <p:spPr>
          <a:xfrm>
            <a:off x="822960" y="749808"/>
            <a:ext cx="7315200" cy="320040"/>
          </a:xfrm>
          <a:prstGeom prst="rect">
            <a:avLst/>
          </a:prstGeom>
          <a:noFill/>
        </p:spPr>
        <p:txBody>
          <a:bodyPr wrap="square">
            <a:spAutoFit/>
          </a:bodyPr>
          <a:lstStyle/>
          <a:p>
            <a:pPr algn="l"/>
            <a:r>
              <a:rPr sz="1100" b="0" i="0">
                <a:solidFill>
                  <a:srgbClr val="7E7684"/>
                </a:solidFill>
                <a:latin typeface="Calibri"/>
              </a:rPr>
              <a:t>apps.connectors · 4 simulated enterprise systems · Zero-Trust default</a:t>
            </a:r>
          </a:p>
        </p:txBody>
      </p:sp>
      <p:sp>
        <p:nvSpPr>
          <p:cNvPr id="5" name="TextBox 4"/>
          <p:cNvSpPr txBox="1"/>
          <p:nvPr/>
        </p:nvSpPr>
        <p:spPr>
          <a:xfrm>
            <a:off x="457200" y="6400800"/>
            <a:ext cx="7772400" cy="320040"/>
          </a:xfrm>
          <a:prstGeom prst="rect">
            <a:avLst/>
          </a:prstGeom>
          <a:noFill/>
        </p:spPr>
        <p:txBody>
          <a:bodyPr wrap="square">
            <a:spAutoFit/>
          </a:bodyPr>
          <a:lstStyle/>
          <a:p>
            <a:pPr>
              <a:defRPr sz="800">
                <a:solidFill>
                  <a:srgbClr val="7E7684"/>
                </a:solidFill>
                <a:latin typeface="Calibri"/>
              </a:defRPr>
            </a:pPr>
            <a:r>
              <a:t>ReconcileOS — Continuous Integrity Platform  |  Slide 7</a:t>
            </a:r>
          </a:p>
        </p:txBody>
      </p:sp>
      <p:sp>
        <p:nvSpPr>
          <p:cNvPr id="6" name="Rectangle 5"/>
          <p:cNvSpPr/>
          <p:nvPr/>
        </p:nvSpPr>
        <p:spPr>
          <a:xfrm>
            <a:off x="457200" y="6327648"/>
            <a:ext cx="8229600" cy="19050"/>
          </a:xfrm>
          <a:prstGeom prst="rect">
            <a:avLst/>
          </a:prstGeom>
          <a:solidFill>
            <a:srgbClr val="DED5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234440"/>
            <a:ext cx="5029200" cy="4788490"/>
          </a:xfrm>
          <a:prstGeom prst="rect">
            <a:avLst/>
          </a:prstGeom>
          <a:noFill/>
        </p:spPr>
        <p:txBody>
          <a:bodyPr wrap="square">
            <a:spAutoFit/>
          </a:bodyPr>
          <a:lstStyle/>
          <a:p>
            <a:pPr>
              <a:spcAft>
                <a:spcPts val="500"/>
              </a:spcAft>
            </a:pPr>
            <a:r>
              <a:rPr sz="1600" b="1" i="0" dirty="0">
                <a:solidFill>
                  <a:srgbClr val="7865A5"/>
                </a:solidFill>
                <a:latin typeface="Calibri"/>
              </a:rPr>
              <a:t>▸ </a:t>
            </a:r>
            <a:r>
              <a:rPr sz="1600" b="0" i="0" dirty="0" err="1">
                <a:solidFill>
                  <a:srgbClr val="332F3A"/>
                </a:solidFill>
                <a:latin typeface="Calibri"/>
              </a:rPr>
              <a:t>VPNAccess</a:t>
            </a:r>
            <a:r>
              <a:rPr sz="1600" b="0" i="0" dirty="0">
                <a:solidFill>
                  <a:srgbClr val="332F3A"/>
                </a:solidFill>
                <a:latin typeface="Calibri"/>
              </a:rPr>
              <a:t>: </a:t>
            </a:r>
            <a:r>
              <a:rPr sz="1600" b="0" i="0" dirty="0" err="1">
                <a:solidFill>
                  <a:srgbClr val="332F3A"/>
                </a:solidFill>
                <a:latin typeface="Calibri"/>
              </a:rPr>
              <a:t>OneToOneField</a:t>
            </a:r>
            <a:r>
              <a:rPr sz="1600" b="0" i="0" dirty="0">
                <a:solidFill>
                  <a:srgbClr val="332F3A"/>
                </a:solidFill>
                <a:latin typeface="Calibri"/>
              </a:rPr>
              <a:t> to Employee, status ENABLED/DISABLED. Default: DISABLED (Zero-Trust).</a:t>
            </a:r>
          </a:p>
          <a:p>
            <a:pPr>
              <a:spcAft>
                <a:spcPts val="500"/>
              </a:spcAft>
            </a:pPr>
            <a:r>
              <a:rPr sz="1600" b="1" i="0" dirty="0">
                <a:solidFill>
                  <a:srgbClr val="7865A5"/>
                </a:solidFill>
                <a:latin typeface="Calibri"/>
              </a:rPr>
              <a:t>▸ </a:t>
            </a:r>
            <a:r>
              <a:rPr sz="1600" b="0" i="0" dirty="0">
                <a:solidFill>
                  <a:srgbClr val="332F3A"/>
                </a:solidFill>
                <a:latin typeface="Calibri"/>
              </a:rPr>
              <a:t>Auto-initialization: querying an employee's VPN state auto-creates a DISABLED record if none exists.</a:t>
            </a:r>
          </a:p>
          <a:p>
            <a:pPr>
              <a:spcAft>
                <a:spcPts val="500"/>
              </a:spcAft>
            </a:pPr>
            <a:r>
              <a:rPr sz="1600" b="1" i="0" dirty="0">
                <a:solidFill>
                  <a:srgbClr val="7865A5"/>
                </a:solidFill>
                <a:latin typeface="Calibri"/>
              </a:rPr>
              <a:t>▸ </a:t>
            </a:r>
            <a:r>
              <a:rPr sz="1600" b="0" i="0" dirty="0">
                <a:solidFill>
                  <a:srgbClr val="332F3A"/>
                </a:solidFill>
                <a:latin typeface="Calibri"/>
              </a:rPr>
              <a:t>Explicit action endpoints: POST /enable/ and POST /disable/ with idempotent state transitions.</a:t>
            </a:r>
          </a:p>
          <a:p>
            <a:pPr>
              <a:spcAft>
                <a:spcPts val="500"/>
              </a:spcAft>
            </a:pPr>
            <a:r>
              <a:rPr sz="1600" b="1" i="0" dirty="0">
                <a:solidFill>
                  <a:srgbClr val="7865A5"/>
                </a:solidFill>
                <a:latin typeface="Calibri"/>
              </a:rPr>
              <a:t>▸ </a:t>
            </a:r>
            <a:r>
              <a:rPr sz="1600" b="0" i="0" dirty="0" err="1">
                <a:solidFill>
                  <a:srgbClr val="332F3A"/>
                </a:solidFill>
                <a:latin typeface="Calibri"/>
              </a:rPr>
              <a:t>GitHubMembership</a:t>
            </a:r>
            <a:r>
              <a:rPr sz="1600" b="0" i="0" dirty="0">
                <a:solidFill>
                  <a:srgbClr val="332F3A"/>
                </a:solidFill>
                <a:latin typeface="Calibri"/>
              </a:rPr>
              <a:t>: Models GitHub org membership (MEMBER / REVOKED / NOT_MEMBER).</a:t>
            </a:r>
          </a:p>
          <a:p>
            <a:pPr>
              <a:spcAft>
                <a:spcPts val="500"/>
              </a:spcAft>
            </a:pPr>
            <a:r>
              <a:rPr sz="1600" b="1" i="0" dirty="0">
                <a:solidFill>
                  <a:srgbClr val="7865A5"/>
                </a:solidFill>
                <a:latin typeface="Calibri"/>
              </a:rPr>
              <a:t>▸ </a:t>
            </a:r>
            <a:r>
              <a:rPr sz="1600" b="0" i="0" dirty="0" err="1">
                <a:solidFill>
                  <a:srgbClr val="332F3A"/>
                </a:solidFill>
                <a:latin typeface="Calibri"/>
              </a:rPr>
              <a:t>CloudIAMAccess</a:t>
            </a:r>
            <a:r>
              <a:rPr sz="1600" b="0" i="0" dirty="0">
                <a:solidFill>
                  <a:srgbClr val="332F3A"/>
                </a:solidFill>
                <a:latin typeface="Calibri"/>
              </a:rPr>
              <a:t>: Models Cloud IAM roles (DEVELOPER_ROLE / ADMIN_ROLE / NO_ROLE / REVOKED).</a:t>
            </a:r>
          </a:p>
          <a:p>
            <a:pPr>
              <a:spcAft>
                <a:spcPts val="500"/>
              </a:spcAft>
            </a:pPr>
            <a:r>
              <a:rPr sz="1600" b="1" i="0" dirty="0">
                <a:solidFill>
                  <a:srgbClr val="7865A5"/>
                </a:solidFill>
                <a:latin typeface="Calibri"/>
              </a:rPr>
              <a:t>▸ </a:t>
            </a:r>
            <a:r>
              <a:rPr sz="1600" b="0" i="0" dirty="0" err="1">
                <a:solidFill>
                  <a:srgbClr val="332F3A"/>
                </a:solidFill>
                <a:latin typeface="Calibri"/>
              </a:rPr>
              <a:t>SlackAccount</a:t>
            </a:r>
            <a:r>
              <a:rPr sz="1600" b="0" i="0" dirty="0">
                <a:solidFill>
                  <a:srgbClr val="332F3A"/>
                </a:solidFill>
                <a:latin typeface="Calibri"/>
              </a:rPr>
              <a:t>: Models Slack workspace status (ACTIVE / DEACTIVATED / DISABLED).</a:t>
            </a:r>
          </a:p>
          <a:p>
            <a:pPr>
              <a:spcAft>
                <a:spcPts val="500"/>
              </a:spcAft>
            </a:pPr>
            <a:r>
              <a:rPr sz="1600" b="1" i="0" dirty="0">
                <a:solidFill>
                  <a:srgbClr val="7865A5"/>
                </a:solidFill>
                <a:latin typeface="Calibri"/>
              </a:rPr>
              <a:t>▸ </a:t>
            </a:r>
            <a:r>
              <a:rPr sz="1600" b="0" i="0" dirty="0">
                <a:solidFill>
                  <a:srgbClr val="332F3A"/>
                </a:solidFill>
                <a:latin typeface="Calibri"/>
              </a:rPr>
              <a:t>All 4 connectors are simulated — no real external system integrations.</a:t>
            </a:r>
          </a:p>
          <a:p>
            <a:pPr>
              <a:spcAft>
                <a:spcPts val="500"/>
              </a:spcAft>
            </a:pPr>
            <a:r>
              <a:rPr sz="1600" b="1" i="0" dirty="0">
                <a:solidFill>
                  <a:srgbClr val="7865A5"/>
                </a:solidFill>
                <a:latin typeface="Calibri"/>
              </a:rPr>
              <a:t>▸ </a:t>
            </a:r>
            <a:r>
              <a:rPr sz="1600" b="0" i="0" dirty="0">
                <a:solidFill>
                  <a:srgbClr val="332F3A"/>
                </a:solidFill>
                <a:latin typeface="Calibri"/>
              </a:rPr>
              <a:t>15 automated VPN connector tests. Other connectors have model-level implementations.</a:t>
            </a:r>
          </a:p>
        </p:txBody>
      </p:sp>
      <p:sp>
        <p:nvSpPr>
          <p:cNvPr id="8" name="Rounded Rectangle 7"/>
          <p:cNvSpPr/>
          <p:nvPr/>
        </p:nvSpPr>
        <p:spPr>
          <a:xfrm>
            <a:off x="5852160" y="1234440"/>
            <a:ext cx="2834640" cy="4731340"/>
          </a:xfrm>
          <a:prstGeom prst="roundRect">
            <a:avLst>
              <a:gd name="adj" fmla="val 5000"/>
            </a:avLst>
          </a:prstGeom>
          <a:solidFill>
            <a:srgbClr val="FFFDF9"/>
          </a:solidFill>
          <a:ln w="12700">
            <a:solidFill>
              <a:srgbClr val="E052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b="1" i="0" dirty="0">
                <a:solidFill>
                  <a:srgbClr val="E05249"/>
                </a:solidFill>
                <a:latin typeface="Calibri"/>
              </a:rPr>
              <a:t>DRIFT SCENARIO</a:t>
            </a:r>
          </a:p>
          <a:p>
            <a:pPr>
              <a:spcBef>
                <a:spcPts val="100"/>
              </a:spcBef>
            </a:pPr>
            <a:endParaRPr b="1" i="0" dirty="0">
              <a:solidFill>
                <a:srgbClr val="E05249"/>
              </a:solidFill>
              <a:latin typeface="Calibri"/>
            </a:endParaRPr>
          </a:p>
          <a:p>
            <a:pPr>
              <a:spcBef>
                <a:spcPts val="100"/>
              </a:spcBef>
            </a:pPr>
            <a:r>
              <a:rPr sz="1600" b="0" i="0" dirty="0">
                <a:solidFill>
                  <a:srgbClr val="332F3A"/>
                </a:solidFill>
                <a:latin typeface="Calibri Light"/>
              </a:rPr>
              <a:t>HR System:</a:t>
            </a:r>
          </a:p>
          <a:p>
            <a:pPr>
              <a:spcBef>
                <a:spcPts val="100"/>
              </a:spcBef>
            </a:pPr>
            <a:r>
              <a:rPr sz="1600" b="0" i="0" dirty="0">
                <a:solidFill>
                  <a:srgbClr val="332F3A"/>
                </a:solidFill>
                <a:latin typeface="Calibri Light"/>
              </a:rPr>
              <a:t>  Rahul Kumar → TERMINATED</a:t>
            </a:r>
          </a:p>
          <a:p>
            <a:pPr>
              <a:spcBef>
                <a:spcPts val="100"/>
              </a:spcBef>
            </a:pPr>
            <a:endParaRPr sz="1600" b="0" i="0" dirty="0">
              <a:solidFill>
                <a:srgbClr val="332F3A"/>
              </a:solidFill>
              <a:latin typeface="Calibri Light"/>
            </a:endParaRPr>
          </a:p>
          <a:p>
            <a:pPr>
              <a:spcBef>
                <a:spcPts val="100"/>
              </a:spcBef>
            </a:pPr>
            <a:r>
              <a:rPr sz="1600" b="0" i="0" dirty="0">
                <a:solidFill>
                  <a:srgbClr val="332F3A"/>
                </a:solidFill>
                <a:latin typeface="Calibri Light"/>
              </a:rPr>
              <a:t>VPN System:</a:t>
            </a:r>
          </a:p>
          <a:p>
            <a:pPr>
              <a:spcBef>
                <a:spcPts val="100"/>
              </a:spcBef>
            </a:pPr>
            <a:r>
              <a:rPr sz="1600" b="0" i="0" dirty="0">
                <a:solidFill>
                  <a:srgbClr val="E05249"/>
                </a:solidFill>
                <a:latin typeface="Calibri Light"/>
              </a:rPr>
              <a:t>  Rahul Kumar → ENABLED ⚠</a:t>
            </a:r>
          </a:p>
          <a:p>
            <a:pPr>
              <a:spcBef>
                <a:spcPts val="100"/>
              </a:spcBef>
            </a:pPr>
            <a:endParaRPr sz="1600" b="0" i="0" dirty="0">
              <a:solidFill>
                <a:srgbClr val="E05249"/>
              </a:solidFill>
              <a:latin typeface="Calibri Light"/>
            </a:endParaRPr>
          </a:p>
          <a:p>
            <a:pPr>
              <a:spcBef>
                <a:spcPts val="100"/>
              </a:spcBef>
            </a:pPr>
            <a:r>
              <a:rPr sz="1600" b="0" i="0" dirty="0">
                <a:solidFill>
                  <a:srgbClr val="332F3A"/>
                </a:solidFill>
                <a:latin typeface="Calibri Light"/>
              </a:rPr>
              <a:t>Expected: DISABLED</a:t>
            </a:r>
          </a:p>
          <a:p>
            <a:pPr>
              <a:spcBef>
                <a:spcPts val="100"/>
              </a:spcBef>
            </a:pPr>
            <a:r>
              <a:rPr sz="1600" b="0" i="0" dirty="0">
                <a:solidFill>
                  <a:srgbClr val="332F3A"/>
                </a:solidFill>
                <a:latin typeface="Calibri Light"/>
              </a:rPr>
              <a:t>Actual: ENABLED</a:t>
            </a:r>
          </a:p>
          <a:p>
            <a:pPr>
              <a:spcBef>
                <a:spcPts val="100"/>
              </a:spcBef>
            </a:pPr>
            <a:r>
              <a:rPr sz="1600" b="0" i="0" dirty="0">
                <a:solidFill>
                  <a:srgbClr val="E05249"/>
                </a:solidFill>
                <a:latin typeface="Calibri Light"/>
              </a:rPr>
              <a:t>→ CRITICAL Drift Violation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0E8"/>
        </a:solidFill>
        <a:effectLst/>
      </p:bgPr>
    </p:bg>
    <p:spTree>
      <p:nvGrpSpPr>
        <p:cNvPr id="1" name=""/>
        <p:cNvGrpSpPr/>
        <p:nvPr/>
      </p:nvGrpSpPr>
      <p:grpSpPr>
        <a:xfrm>
          <a:off x="0" y="0"/>
          <a:ext cx="0" cy="0"/>
          <a:chOff x="0" y="0"/>
          <a:chExt cx="0" cy="0"/>
        </a:xfrm>
      </p:grpSpPr>
      <p:sp>
        <p:nvSpPr>
          <p:cNvPr id="2" name="Rectangle 1"/>
          <p:cNvSpPr/>
          <p:nvPr/>
        </p:nvSpPr>
        <p:spPr>
          <a:xfrm>
            <a:off x="457200" y="411480"/>
            <a:ext cx="201168" cy="457200"/>
          </a:xfrm>
          <a:prstGeom prst="rect">
            <a:avLst/>
          </a:prstGeom>
          <a:solidFill>
            <a:srgbClr val="786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320040"/>
            <a:ext cx="7315200" cy="502920"/>
          </a:xfrm>
          <a:prstGeom prst="rect">
            <a:avLst/>
          </a:prstGeom>
          <a:noFill/>
        </p:spPr>
        <p:txBody>
          <a:bodyPr wrap="square">
            <a:spAutoFit/>
          </a:bodyPr>
          <a:lstStyle/>
          <a:p>
            <a:pPr algn="l"/>
            <a:r>
              <a:rPr sz="2200" b="1" i="0">
                <a:solidFill>
                  <a:srgbClr val="332F3A"/>
                </a:solidFill>
                <a:latin typeface="Calibri"/>
              </a:rPr>
              <a:t>Authentication &amp; Role-Based Access Control</a:t>
            </a:r>
          </a:p>
        </p:txBody>
      </p:sp>
      <p:sp>
        <p:nvSpPr>
          <p:cNvPr id="4" name="TextBox 3"/>
          <p:cNvSpPr txBox="1"/>
          <p:nvPr/>
        </p:nvSpPr>
        <p:spPr>
          <a:xfrm>
            <a:off x="822960" y="749808"/>
            <a:ext cx="7315200" cy="320040"/>
          </a:xfrm>
          <a:prstGeom prst="rect">
            <a:avLst/>
          </a:prstGeom>
          <a:noFill/>
        </p:spPr>
        <p:txBody>
          <a:bodyPr wrap="square">
            <a:spAutoFit/>
          </a:bodyPr>
          <a:lstStyle/>
          <a:p>
            <a:pPr algn="l"/>
            <a:r>
              <a:rPr sz="1100" b="0" i="0">
                <a:solidFill>
                  <a:srgbClr val="7E7684"/>
                </a:solidFill>
                <a:latin typeface="Calibri"/>
              </a:rPr>
              <a:t>apps.accounts · SimpleJWT · 3 RBAC roles</a:t>
            </a:r>
          </a:p>
        </p:txBody>
      </p:sp>
      <p:sp>
        <p:nvSpPr>
          <p:cNvPr id="5" name="TextBox 4"/>
          <p:cNvSpPr txBox="1"/>
          <p:nvPr/>
        </p:nvSpPr>
        <p:spPr>
          <a:xfrm>
            <a:off x="457200" y="6400800"/>
            <a:ext cx="7772400" cy="320040"/>
          </a:xfrm>
          <a:prstGeom prst="rect">
            <a:avLst/>
          </a:prstGeom>
          <a:noFill/>
        </p:spPr>
        <p:txBody>
          <a:bodyPr wrap="square">
            <a:spAutoFit/>
          </a:bodyPr>
          <a:lstStyle/>
          <a:p>
            <a:pPr>
              <a:defRPr sz="800">
                <a:solidFill>
                  <a:srgbClr val="7E7684"/>
                </a:solidFill>
                <a:latin typeface="Calibri"/>
              </a:defRPr>
            </a:pPr>
            <a:r>
              <a:t>ReconcileOS — Continuous Integrity Platform  |  Slide 8</a:t>
            </a:r>
          </a:p>
        </p:txBody>
      </p:sp>
      <p:sp>
        <p:nvSpPr>
          <p:cNvPr id="6" name="Rectangle 5"/>
          <p:cNvSpPr/>
          <p:nvPr/>
        </p:nvSpPr>
        <p:spPr>
          <a:xfrm>
            <a:off x="457200" y="6327648"/>
            <a:ext cx="8229600" cy="19050"/>
          </a:xfrm>
          <a:prstGeom prst="rect">
            <a:avLst/>
          </a:prstGeom>
          <a:solidFill>
            <a:srgbClr val="DED5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7200" y="1234440"/>
            <a:ext cx="4114800" cy="1645920"/>
          </a:xfrm>
          <a:prstGeom prst="roundRect">
            <a:avLst>
              <a:gd name="adj" fmla="val 5000"/>
            </a:avLst>
          </a:prstGeom>
          <a:solidFill>
            <a:srgbClr val="FFFDF9"/>
          </a:solidFill>
          <a:ln w="12700">
            <a:solidFill>
              <a:srgbClr val="DED5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i="0">
                <a:solidFill>
                  <a:srgbClr val="7865A5"/>
                </a:solidFill>
                <a:latin typeface="Calibri"/>
              </a:rPr>
              <a:t>JWT Authentication</a:t>
            </a:r>
          </a:p>
          <a:p>
            <a:pPr>
              <a:spcBef>
                <a:spcPts val="300"/>
              </a:spcBef>
            </a:pPr>
            <a:r>
              <a:rPr sz="1000" b="0" i="0">
                <a:solidFill>
                  <a:srgbClr val="595260"/>
                </a:solidFill>
                <a:latin typeface="Calibri"/>
              </a:rPr>
              <a:t>▸ POST /api/v1/auth/token/ — Obtain access + refresh tokens</a:t>
            </a:r>
          </a:p>
          <a:p>
            <a:pPr>
              <a:spcBef>
                <a:spcPts val="300"/>
              </a:spcBef>
            </a:pPr>
            <a:r>
              <a:rPr sz="1000" b="0" i="0">
                <a:solidFill>
                  <a:srgbClr val="595260"/>
                </a:solidFill>
                <a:latin typeface="Calibri"/>
              </a:rPr>
              <a:t>▸ POST /api/v1/auth/token/refresh/ — Refresh expired access token</a:t>
            </a:r>
          </a:p>
          <a:p>
            <a:pPr>
              <a:spcBef>
                <a:spcPts val="300"/>
              </a:spcBef>
            </a:pPr>
            <a:r>
              <a:rPr sz="1000" b="0" i="0">
                <a:solidFill>
                  <a:srgbClr val="595260"/>
                </a:solidFill>
                <a:latin typeface="Calibri"/>
              </a:rPr>
              <a:t>▸ POST /api/v1/auth/token/verify/ — Verify token validity</a:t>
            </a:r>
          </a:p>
          <a:p>
            <a:pPr>
              <a:spcBef>
                <a:spcPts val="300"/>
              </a:spcBef>
            </a:pPr>
            <a:r>
              <a:rPr sz="1000" b="0" i="0">
                <a:solidFill>
                  <a:srgbClr val="595260"/>
                </a:solidFill>
                <a:latin typeface="Calibri"/>
              </a:rPr>
              <a:t>▸ Django session auth also supported for admin interface</a:t>
            </a:r>
          </a:p>
        </p:txBody>
      </p:sp>
      <p:sp>
        <p:nvSpPr>
          <p:cNvPr id="8" name="Rounded Rectangle 7"/>
          <p:cNvSpPr/>
          <p:nvPr/>
        </p:nvSpPr>
        <p:spPr>
          <a:xfrm>
            <a:off x="457200" y="3200400"/>
            <a:ext cx="2697480" cy="2011680"/>
          </a:xfrm>
          <a:prstGeom prst="roundRect">
            <a:avLst>
              <a:gd name="adj" fmla="val 5000"/>
            </a:avLst>
          </a:prstGeom>
          <a:solidFill>
            <a:srgbClr val="FFFDF9"/>
          </a:solidFill>
          <a:ln w="12700">
            <a:solidFill>
              <a:srgbClr val="E052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E05249"/>
                </a:solidFill>
                <a:latin typeface="Calibri"/>
              </a:rPr>
              <a:t>ADMIN</a:t>
            </a:r>
          </a:p>
          <a:p>
            <a:pPr>
              <a:spcBef>
                <a:spcPts val="300"/>
              </a:spcBef>
            </a:pPr>
            <a:r>
              <a:rPr sz="1000" b="1" i="0">
                <a:solidFill>
                  <a:srgbClr val="332F3A"/>
                </a:solidFill>
                <a:latin typeface="Calibri"/>
              </a:rPr>
              <a:t>Full Control</a:t>
            </a:r>
          </a:p>
          <a:p>
            <a:pPr>
              <a:spcBef>
                <a:spcPts val="600"/>
              </a:spcBef>
            </a:pPr>
            <a:r>
              <a:rPr sz="900" b="0" i="0">
                <a:solidFill>
                  <a:srgbClr val="595260"/>
                </a:solidFill>
                <a:latin typeface="Calibri"/>
              </a:rPr>
              <a:t>Full system access, user management,
configuration, approve/reject plans</a:t>
            </a:r>
          </a:p>
        </p:txBody>
      </p:sp>
      <p:sp>
        <p:nvSpPr>
          <p:cNvPr id="9" name="Rounded Rectangle 8"/>
          <p:cNvSpPr/>
          <p:nvPr/>
        </p:nvSpPr>
        <p:spPr>
          <a:xfrm>
            <a:off x="3337560" y="3200400"/>
            <a:ext cx="2697480" cy="2011680"/>
          </a:xfrm>
          <a:prstGeom prst="roundRect">
            <a:avLst>
              <a:gd name="adj" fmla="val 5000"/>
            </a:avLst>
          </a:prstGeom>
          <a:solidFill>
            <a:srgbClr val="FFFDF9"/>
          </a:solidFill>
          <a:ln w="12700">
            <a:solidFill>
              <a:srgbClr val="D98C2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D98C2B"/>
                </a:solidFill>
                <a:latin typeface="Calibri"/>
              </a:rPr>
              <a:t>OPERATOR</a:t>
            </a:r>
          </a:p>
          <a:p>
            <a:pPr>
              <a:spcBef>
                <a:spcPts val="300"/>
              </a:spcBef>
            </a:pPr>
            <a:r>
              <a:rPr sz="1000" b="1" i="0">
                <a:solidFill>
                  <a:srgbClr val="332F3A"/>
                </a:solidFill>
                <a:latin typeface="Calibri"/>
              </a:rPr>
              <a:t>Reconcile &amp; Plan</a:t>
            </a:r>
          </a:p>
          <a:p>
            <a:pPr>
              <a:spcBef>
                <a:spcPts val="600"/>
              </a:spcBef>
            </a:pPr>
            <a:r>
              <a:rPr sz="900" b="0" i="0">
                <a:solidFill>
                  <a:srgbClr val="595260"/>
                </a:solidFill>
                <a:latin typeface="Calibri"/>
              </a:rPr>
              <a:t>Run reconciliation, generate plans,
execute repairs, view reports</a:t>
            </a:r>
          </a:p>
        </p:txBody>
      </p:sp>
      <p:sp>
        <p:nvSpPr>
          <p:cNvPr id="10" name="Rounded Rectangle 9"/>
          <p:cNvSpPr/>
          <p:nvPr/>
        </p:nvSpPr>
        <p:spPr>
          <a:xfrm>
            <a:off x="6217920" y="3200400"/>
            <a:ext cx="2697480" cy="2011680"/>
          </a:xfrm>
          <a:prstGeom prst="roundRect">
            <a:avLst>
              <a:gd name="adj" fmla="val 5000"/>
            </a:avLst>
          </a:prstGeom>
          <a:solidFill>
            <a:srgbClr val="FFFDF9"/>
          </a:solidFill>
          <a:ln w="12700">
            <a:solidFill>
              <a:srgbClr val="2BAE7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2BAE7B"/>
                </a:solidFill>
                <a:latin typeface="Calibri"/>
              </a:rPr>
              <a:t>VIEWER</a:t>
            </a:r>
          </a:p>
          <a:p>
            <a:pPr>
              <a:spcBef>
                <a:spcPts val="300"/>
              </a:spcBef>
            </a:pPr>
            <a:r>
              <a:rPr sz="1000" b="1" i="0">
                <a:solidFill>
                  <a:srgbClr val="332F3A"/>
                </a:solidFill>
                <a:latin typeface="Calibri"/>
              </a:rPr>
              <a:t>Read Only</a:t>
            </a:r>
          </a:p>
          <a:p>
            <a:pPr>
              <a:spcBef>
                <a:spcPts val="600"/>
              </a:spcBef>
            </a:pPr>
            <a:r>
              <a:rPr sz="900" b="0" i="0">
                <a:solidFill>
                  <a:srgbClr val="595260"/>
                </a:solidFill>
                <a:latin typeface="Calibri"/>
              </a:rPr>
              <a:t>View dashboards, violations, audit
logs. Cannot modify records.</a:t>
            </a:r>
          </a:p>
        </p:txBody>
      </p:sp>
      <p:sp>
        <p:nvSpPr>
          <p:cNvPr id="11" name="TextBox 10"/>
          <p:cNvSpPr txBox="1"/>
          <p:nvPr/>
        </p:nvSpPr>
        <p:spPr>
          <a:xfrm>
            <a:off x="457200" y="5394960"/>
            <a:ext cx="8229600" cy="457200"/>
          </a:xfrm>
          <a:prstGeom prst="rect">
            <a:avLst/>
          </a:prstGeom>
          <a:noFill/>
        </p:spPr>
        <p:txBody>
          <a:bodyPr wrap="square">
            <a:spAutoFit/>
          </a:bodyPr>
          <a:lstStyle/>
          <a:p>
            <a:pPr algn="l"/>
            <a:r>
              <a:rPr sz="900" b="0" i="0">
                <a:solidFill>
                  <a:srgbClr val="7E7684"/>
                </a:solidFill>
                <a:latin typeface="Calibri"/>
              </a:rPr>
              <a:t>Note: UserProfile model with RBAC roles exists. Frontend enforces role-based UI restrictions. Backend permission enforcement uses DRF's IsAuthenticated; fine-grained per-role endpoint restrictions are partially implemented.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0E8"/>
        </a:solidFill>
        <a:effectLst/>
      </p:bgPr>
    </p:bg>
    <p:spTree>
      <p:nvGrpSpPr>
        <p:cNvPr id="1" name=""/>
        <p:cNvGrpSpPr/>
        <p:nvPr/>
      </p:nvGrpSpPr>
      <p:grpSpPr>
        <a:xfrm>
          <a:off x="0" y="0"/>
          <a:ext cx="0" cy="0"/>
          <a:chOff x="0" y="0"/>
          <a:chExt cx="0" cy="0"/>
        </a:xfrm>
      </p:grpSpPr>
      <p:sp>
        <p:nvSpPr>
          <p:cNvPr id="2" name="Rectangle 1"/>
          <p:cNvSpPr/>
          <p:nvPr/>
        </p:nvSpPr>
        <p:spPr>
          <a:xfrm>
            <a:off x="457200" y="411480"/>
            <a:ext cx="201168" cy="457200"/>
          </a:xfrm>
          <a:prstGeom prst="rect">
            <a:avLst/>
          </a:prstGeom>
          <a:solidFill>
            <a:srgbClr val="786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320040"/>
            <a:ext cx="7315200" cy="502920"/>
          </a:xfrm>
          <a:prstGeom prst="rect">
            <a:avLst/>
          </a:prstGeom>
          <a:noFill/>
        </p:spPr>
        <p:txBody>
          <a:bodyPr wrap="square">
            <a:spAutoFit/>
          </a:bodyPr>
          <a:lstStyle/>
          <a:p>
            <a:pPr algn="l"/>
            <a:r>
              <a:rPr sz="2200" b="1" i="0">
                <a:solidFill>
                  <a:srgbClr val="332F3A"/>
                </a:solidFill>
                <a:latin typeface="Calibri"/>
              </a:rPr>
              <a:t>Rules &amp; Invariant Management</a:t>
            </a:r>
          </a:p>
        </p:txBody>
      </p:sp>
      <p:sp>
        <p:nvSpPr>
          <p:cNvPr id="4" name="TextBox 3"/>
          <p:cNvSpPr txBox="1"/>
          <p:nvPr/>
        </p:nvSpPr>
        <p:spPr>
          <a:xfrm>
            <a:off x="822960" y="749808"/>
            <a:ext cx="7315200" cy="320040"/>
          </a:xfrm>
          <a:prstGeom prst="rect">
            <a:avLst/>
          </a:prstGeom>
          <a:noFill/>
        </p:spPr>
        <p:txBody>
          <a:bodyPr wrap="square">
            <a:spAutoFit/>
          </a:bodyPr>
          <a:lstStyle/>
          <a:p>
            <a:pPr algn="l"/>
            <a:r>
              <a:rPr sz="1100" b="0" i="0">
                <a:solidFill>
                  <a:srgbClr val="7E7684"/>
                </a:solidFill>
                <a:latin typeface="Calibri"/>
              </a:rPr>
              <a:t>apps.rules · Declarative multi-system security invariants</a:t>
            </a:r>
          </a:p>
        </p:txBody>
      </p:sp>
      <p:sp>
        <p:nvSpPr>
          <p:cNvPr id="5" name="TextBox 4"/>
          <p:cNvSpPr txBox="1"/>
          <p:nvPr/>
        </p:nvSpPr>
        <p:spPr>
          <a:xfrm>
            <a:off x="457200" y="6400800"/>
            <a:ext cx="7772400" cy="320040"/>
          </a:xfrm>
          <a:prstGeom prst="rect">
            <a:avLst/>
          </a:prstGeom>
          <a:noFill/>
        </p:spPr>
        <p:txBody>
          <a:bodyPr wrap="square">
            <a:spAutoFit/>
          </a:bodyPr>
          <a:lstStyle/>
          <a:p>
            <a:pPr>
              <a:defRPr sz="800">
                <a:solidFill>
                  <a:srgbClr val="7E7684"/>
                </a:solidFill>
                <a:latin typeface="Calibri"/>
              </a:defRPr>
            </a:pPr>
            <a:r>
              <a:t>ReconcileOS — Continuous Integrity Platform  |  Slide 9</a:t>
            </a:r>
          </a:p>
        </p:txBody>
      </p:sp>
      <p:sp>
        <p:nvSpPr>
          <p:cNvPr id="6" name="Rectangle 5"/>
          <p:cNvSpPr/>
          <p:nvPr/>
        </p:nvSpPr>
        <p:spPr>
          <a:xfrm>
            <a:off x="457200" y="6327648"/>
            <a:ext cx="8229600" cy="19050"/>
          </a:xfrm>
          <a:prstGeom prst="rect">
            <a:avLst/>
          </a:prstGeom>
          <a:solidFill>
            <a:srgbClr val="DED5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234440"/>
            <a:ext cx="5029200" cy="4973156"/>
          </a:xfrm>
          <a:prstGeom prst="rect">
            <a:avLst/>
          </a:prstGeom>
          <a:noFill/>
        </p:spPr>
        <p:txBody>
          <a:bodyPr wrap="square">
            <a:spAutoFit/>
          </a:bodyPr>
          <a:lstStyle/>
          <a:p>
            <a:pPr>
              <a:spcAft>
                <a:spcPts val="500"/>
              </a:spcAft>
            </a:pPr>
            <a:r>
              <a:rPr sz="1600" b="1" i="0" dirty="0">
                <a:solidFill>
                  <a:srgbClr val="7865A5"/>
                </a:solidFill>
                <a:latin typeface="Calibri"/>
              </a:rPr>
              <a:t>▸ </a:t>
            </a:r>
            <a:r>
              <a:rPr sz="1600" b="0" i="0" dirty="0">
                <a:solidFill>
                  <a:srgbClr val="332F3A"/>
                </a:solidFill>
                <a:latin typeface="Calibri"/>
              </a:rPr>
              <a:t>Rule model: Declarative invariant linking source system condition → expected target system state.</a:t>
            </a:r>
          </a:p>
          <a:p>
            <a:pPr>
              <a:spcAft>
                <a:spcPts val="500"/>
              </a:spcAft>
            </a:pPr>
            <a:r>
              <a:rPr sz="1600" b="1" i="0" dirty="0">
                <a:solidFill>
                  <a:srgbClr val="7865A5"/>
                </a:solidFill>
                <a:latin typeface="Calibri"/>
              </a:rPr>
              <a:t>▸ </a:t>
            </a:r>
            <a:r>
              <a:rPr sz="1600" b="0" i="0" dirty="0">
                <a:solidFill>
                  <a:srgbClr val="332F3A"/>
                </a:solidFill>
                <a:latin typeface="Calibri"/>
              </a:rPr>
              <a:t>Central invariant: IF </a:t>
            </a:r>
            <a:r>
              <a:rPr sz="1600" b="0" i="0" dirty="0" err="1">
                <a:solidFill>
                  <a:srgbClr val="332F3A"/>
                </a:solidFill>
                <a:latin typeface="Calibri"/>
              </a:rPr>
              <a:t>HR.status</a:t>
            </a:r>
            <a:r>
              <a:rPr sz="1600" b="0" i="0" dirty="0">
                <a:solidFill>
                  <a:srgbClr val="332F3A"/>
                </a:solidFill>
                <a:latin typeface="Calibri"/>
              </a:rPr>
              <a:t> == TERMINATED THEN </a:t>
            </a:r>
            <a:r>
              <a:rPr sz="1600" b="0" i="0" dirty="0" err="1">
                <a:solidFill>
                  <a:srgbClr val="332F3A"/>
                </a:solidFill>
                <a:latin typeface="Calibri"/>
              </a:rPr>
              <a:t>VPN.status</a:t>
            </a:r>
            <a:r>
              <a:rPr sz="1600" b="0" i="0" dirty="0">
                <a:solidFill>
                  <a:srgbClr val="332F3A"/>
                </a:solidFill>
                <a:latin typeface="Calibri"/>
              </a:rPr>
              <a:t> MUST BE DISABLED.</a:t>
            </a:r>
          </a:p>
          <a:p>
            <a:pPr>
              <a:spcAft>
                <a:spcPts val="500"/>
              </a:spcAft>
            </a:pPr>
            <a:r>
              <a:rPr sz="1600" b="1" i="0" dirty="0">
                <a:solidFill>
                  <a:srgbClr val="7865A5"/>
                </a:solidFill>
                <a:latin typeface="Calibri"/>
              </a:rPr>
              <a:t>▸ </a:t>
            </a:r>
            <a:r>
              <a:rPr sz="1600" b="0" i="0" dirty="0">
                <a:solidFill>
                  <a:srgbClr val="332F3A"/>
                </a:solidFill>
                <a:latin typeface="Calibri"/>
              </a:rPr>
              <a:t>Fields: </a:t>
            </a:r>
            <a:r>
              <a:rPr sz="1600" b="0" i="0" dirty="0" err="1">
                <a:solidFill>
                  <a:srgbClr val="332F3A"/>
                </a:solidFill>
                <a:latin typeface="Calibri"/>
              </a:rPr>
              <a:t>rule_code</a:t>
            </a:r>
            <a:r>
              <a:rPr sz="1600" b="0" i="0" dirty="0">
                <a:solidFill>
                  <a:srgbClr val="332F3A"/>
                </a:solidFill>
                <a:latin typeface="Calibri"/>
              </a:rPr>
              <a:t> (unique), name, description, </a:t>
            </a:r>
            <a:r>
              <a:rPr sz="1600" b="0" i="0" dirty="0" err="1">
                <a:solidFill>
                  <a:srgbClr val="332F3A"/>
                </a:solidFill>
                <a:latin typeface="Calibri"/>
              </a:rPr>
              <a:t>source_system</a:t>
            </a:r>
            <a:r>
              <a:rPr sz="1600" b="0" i="0" dirty="0">
                <a:solidFill>
                  <a:srgbClr val="332F3A"/>
                </a:solidFill>
                <a:latin typeface="Calibri"/>
              </a:rPr>
              <a:t>, </a:t>
            </a:r>
            <a:r>
              <a:rPr sz="1600" b="0" i="0" dirty="0" err="1">
                <a:solidFill>
                  <a:srgbClr val="332F3A"/>
                </a:solidFill>
                <a:latin typeface="Calibri"/>
              </a:rPr>
              <a:t>condition_attribute</a:t>
            </a:r>
            <a:r>
              <a:rPr sz="1600" b="0" i="0" dirty="0">
                <a:solidFill>
                  <a:srgbClr val="332F3A"/>
                </a:solidFill>
                <a:latin typeface="Calibri"/>
              </a:rPr>
              <a:t>, </a:t>
            </a:r>
            <a:r>
              <a:rPr sz="1600" b="0" i="0" dirty="0" err="1">
                <a:solidFill>
                  <a:srgbClr val="332F3A"/>
                </a:solidFill>
                <a:latin typeface="Calibri"/>
              </a:rPr>
              <a:t>condition_value</a:t>
            </a:r>
            <a:r>
              <a:rPr sz="1600" b="0" i="0" dirty="0">
                <a:solidFill>
                  <a:srgbClr val="332F3A"/>
                </a:solidFill>
                <a:latin typeface="Calibri"/>
              </a:rPr>
              <a:t>, </a:t>
            </a:r>
            <a:r>
              <a:rPr sz="1600" b="0" i="0" dirty="0" err="1">
                <a:solidFill>
                  <a:srgbClr val="332F3A"/>
                </a:solidFill>
                <a:latin typeface="Calibri"/>
              </a:rPr>
              <a:t>target_system</a:t>
            </a:r>
            <a:r>
              <a:rPr sz="1600" b="0" i="0" dirty="0">
                <a:solidFill>
                  <a:srgbClr val="332F3A"/>
                </a:solidFill>
                <a:latin typeface="Calibri"/>
              </a:rPr>
              <a:t>, </a:t>
            </a:r>
            <a:r>
              <a:rPr sz="1600" b="0" i="0" dirty="0" err="1">
                <a:solidFill>
                  <a:srgbClr val="332F3A"/>
                </a:solidFill>
                <a:latin typeface="Calibri"/>
              </a:rPr>
              <a:t>expected_attribute</a:t>
            </a:r>
            <a:r>
              <a:rPr sz="1600" b="0" i="0" dirty="0">
                <a:solidFill>
                  <a:srgbClr val="332F3A"/>
                </a:solidFill>
                <a:latin typeface="Calibri"/>
              </a:rPr>
              <a:t>, </a:t>
            </a:r>
            <a:r>
              <a:rPr sz="1600" b="0" i="0" dirty="0" err="1">
                <a:solidFill>
                  <a:srgbClr val="332F3A"/>
                </a:solidFill>
                <a:latin typeface="Calibri"/>
              </a:rPr>
              <a:t>expected_value</a:t>
            </a:r>
            <a:r>
              <a:rPr sz="1600" b="0" i="0" dirty="0">
                <a:solidFill>
                  <a:srgbClr val="332F3A"/>
                </a:solidFill>
                <a:latin typeface="Calibri"/>
              </a:rPr>
              <a:t>, severity, </a:t>
            </a:r>
            <a:r>
              <a:rPr sz="1600" b="0" i="0" dirty="0" err="1">
                <a:solidFill>
                  <a:srgbClr val="332F3A"/>
                </a:solidFill>
                <a:latin typeface="Calibri"/>
              </a:rPr>
              <a:t>is_enabled</a:t>
            </a:r>
            <a:r>
              <a:rPr sz="1600" b="0" i="0" dirty="0">
                <a:solidFill>
                  <a:srgbClr val="332F3A"/>
                </a:solidFill>
                <a:latin typeface="Calibri"/>
              </a:rPr>
              <a:t>.</a:t>
            </a:r>
          </a:p>
          <a:p>
            <a:pPr>
              <a:spcAft>
                <a:spcPts val="500"/>
              </a:spcAft>
            </a:pPr>
            <a:r>
              <a:rPr sz="1600" b="1" i="0" dirty="0">
                <a:solidFill>
                  <a:srgbClr val="7865A5"/>
                </a:solidFill>
                <a:latin typeface="Calibri"/>
              </a:rPr>
              <a:t>▸ </a:t>
            </a:r>
            <a:r>
              <a:rPr sz="1600" b="0" i="0" dirty="0">
                <a:solidFill>
                  <a:srgbClr val="332F3A"/>
                </a:solidFill>
                <a:latin typeface="Calibri"/>
              </a:rPr>
              <a:t>Full CRUD API + toggle action: POST /</a:t>
            </a:r>
            <a:r>
              <a:rPr sz="1600" b="0" i="0" dirty="0" err="1">
                <a:solidFill>
                  <a:srgbClr val="332F3A"/>
                </a:solidFill>
                <a:latin typeface="Calibri"/>
              </a:rPr>
              <a:t>api</a:t>
            </a:r>
            <a:r>
              <a:rPr sz="1600" b="0" i="0" dirty="0">
                <a:solidFill>
                  <a:srgbClr val="332F3A"/>
                </a:solidFill>
                <a:latin typeface="Calibri"/>
              </a:rPr>
              <a:t>/v1/rules/&lt;id&gt;/toggle/ to activate/deactivate rules.</a:t>
            </a:r>
          </a:p>
          <a:p>
            <a:pPr>
              <a:spcAft>
                <a:spcPts val="500"/>
              </a:spcAft>
            </a:pPr>
            <a:r>
              <a:rPr sz="1600" b="1" i="0" dirty="0">
                <a:solidFill>
                  <a:srgbClr val="7865A5"/>
                </a:solidFill>
                <a:latin typeface="Calibri"/>
              </a:rPr>
              <a:t>▸ </a:t>
            </a:r>
            <a:r>
              <a:rPr sz="1600" b="0" i="0" dirty="0">
                <a:solidFill>
                  <a:srgbClr val="332F3A"/>
                </a:solidFill>
                <a:latin typeface="Calibri"/>
              </a:rPr>
              <a:t>Severity levels: CRITICAL, HIGH, MEDIUM, LOW — assigned at rule level, inherited by violations.</a:t>
            </a:r>
          </a:p>
          <a:p>
            <a:pPr>
              <a:spcAft>
                <a:spcPts val="500"/>
              </a:spcAft>
            </a:pPr>
            <a:r>
              <a:rPr sz="1600" b="1" i="0" dirty="0">
                <a:solidFill>
                  <a:srgbClr val="7865A5"/>
                </a:solidFill>
                <a:latin typeface="Calibri"/>
              </a:rPr>
              <a:t>▸ </a:t>
            </a:r>
            <a:r>
              <a:rPr sz="1600" b="0" i="0" dirty="0">
                <a:solidFill>
                  <a:srgbClr val="332F3A"/>
                </a:solidFill>
                <a:latin typeface="Calibri"/>
              </a:rPr>
              <a:t>Rule helper methods: </a:t>
            </a:r>
            <a:r>
              <a:rPr sz="1600" b="0" i="0" dirty="0" err="1">
                <a:solidFill>
                  <a:srgbClr val="332F3A"/>
                </a:solidFill>
                <a:latin typeface="Calibri"/>
              </a:rPr>
              <a:t>matches_condition</a:t>
            </a:r>
            <a:r>
              <a:rPr sz="1600" b="0" i="0" dirty="0">
                <a:solidFill>
                  <a:srgbClr val="332F3A"/>
                </a:solidFill>
                <a:latin typeface="Calibri"/>
              </a:rPr>
              <a:t>() for source evaluation, </a:t>
            </a:r>
            <a:r>
              <a:rPr sz="1600" b="0" i="0" dirty="0" err="1">
                <a:solidFill>
                  <a:srgbClr val="332F3A"/>
                </a:solidFill>
                <a:latin typeface="Calibri"/>
              </a:rPr>
              <a:t>evaluates_drift</a:t>
            </a:r>
            <a:r>
              <a:rPr sz="1600" b="0" i="0" dirty="0">
                <a:solidFill>
                  <a:srgbClr val="332F3A"/>
                </a:solidFill>
                <a:latin typeface="Calibri"/>
              </a:rPr>
              <a:t>() for drift detection.</a:t>
            </a:r>
          </a:p>
          <a:p>
            <a:pPr>
              <a:spcAft>
                <a:spcPts val="500"/>
              </a:spcAft>
            </a:pPr>
            <a:r>
              <a:rPr sz="1600" b="1" i="0" dirty="0">
                <a:solidFill>
                  <a:srgbClr val="7865A5"/>
                </a:solidFill>
                <a:latin typeface="Calibri"/>
              </a:rPr>
              <a:t>▸ </a:t>
            </a:r>
            <a:r>
              <a:rPr sz="1600" b="0" i="0" dirty="0">
                <a:solidFill>
                  <a:srgbClr val="332F3A"/>
                </a:solidFill>
                <a:latin typeface="Calibri"/>
              </a:rPr>
              <a:t>AI-assisted draft generation endpoint: POST /</a:t>
            </a:r>
            <a:r>
              <a:rPr sz="1600" b="0" i="0" dirty="0" err="1">
                <a:solidFill>
                  <a:srgbClr val="332F3A"/>
                </a:solidFill>
                <a:latin typeface="Calibri"/>
              </a:rPr>
              <a:t>api</a:t>
            </a:r>
            <a:r>
              <a:rPr sz="1600" b="0" i="0" dirty="0">
                <a:solidFill>
                  <a:srgbClr val="332F3A"/>
                </a:solidFill>
                <a:latin typeface="Calibri"/>
              </a:rPr>
              <a:t>/v1/rules/</a:t>
            </a:r>
            <a:r>
              <a:rPr sz="1600" b="0" i="0" dirty="0" err="1">
                <a:solidFill>
                  <a:srgbClr val="332F3A"/>
                </a:solidFill>
                <a:latin typeface="Calibri"/>
              </a:rPr>
              <a:t>generate_draft</a:t>
            </a:r>
            <a:r>
              <a:rPr sz="1600" b="0" i="0" dirty="0">
                <a:solidFill>
                  <a:srgbClr val="332F3A"/>
                </a:solidFill>
                <a:latin typeface="Calibri"/>
              </a:rPr>
              <a:t>/ (natural language → rule).</a:t>
            </a:r>
          </a:p>
          <a:p>
            <a:pPr>
              <a:spcAft>
                <a:spcPts val="500"/>
              </a:spcAft>
            </a:pPr>
            <a:r>
              <a:rPr sz="1600" b="1" i="0" dirty="0">
                <a:solidFill>
                  <a:srgbClr val="7865A5"/>
                </a:solidFill>
                <a:latin typeface="Calibri"/>
              </a:rPr>
              <a:t>▸ </a:t>
            </a:r>
            <a:r>
              <a:rPr sz="1600" b="0" i="0" dirty="0">
                <a:solidFill>
                  <a:srgbClr val="332F3A"/>
                </a:solidFill>
                <a:latin typeface="Calibri"/>
              </a:rPr>
              <a:t>7 automated tests for rule CRUD, toggle, and engine integration.</a:t>
            </a:r>
          </a:p>
        </p:txBody>
      </p:sp>
      <p:sp>
        <p:nvSpPr>
          <p:cNvPr id="8" name="Rounded Rectangle 7"/>
          <p:cNvSpPr/>
          <p:nvPr/>
        </p:nvSpPr>
        <p:spPr>
          <a:xfrm>
            <a:off x="5852160" y="1234440"/>
            <a:ext cx="2834640" cy="4873752"/>
          </a:xfrm>
          <a:prstGeom prst="roundRect">
            <a:avLst>
              <a:gd name="adj" fmla="val 5000"/>
            </a:avLst>
          </a:prstGeom>
          <a:solidFill>
            <a:srgbClr val="FFFDF9"/>
          </a:solidFill>
          <a:ln w="12700">
            <a:solidFill>
              <a:srgbClr val="7865A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i="0">
                <a:solidFill>
                  <a:srgbClr val="7865A5"/>
                </a:solidFill>
                <a:latin typeface="Calibri"/>
              </a:rPr>
              <a:t>EXAMPLE RULE: INV-RULE-001</a:t>
            </a:r>
          </a:p>
          <a:p>
            <a:pPr>
              <a:spcBef>
                <a:spcPts val="100"/>
              </a:spcBef>
            </a:pPr>
            <a:endParaRPr sz="1600" b="1" i="0">
              <a:solidFill>
                <a:srgbClr val="7865A5"/>
              </a:solidFill>
              <a:latin typeface="Calibri"/>
            </a:endParaRPr>
          </a:p>
          <a:p>
            <a:pPr>
              <a:spcBef>
                <a:spcPts val="100"/>
              </a:spcBef>
            </a:pPr>
            <a:r>
              <a:rPr sz="1400" b="0" i="0">
                <a:solidFill>
                  <a:srgbClr val="595260"/>
                </a:solidFill>
                <a:latin typeface="Calibri Light"/>
              </a:rPr>
              <a:t>Source System: HR</a:t>
            </a:r>
          </a:p>
          <a:p>
            <a:pPr>
              <a:spcBef>
                <a:spcPts val="100"/>
              </a:spcBef>
            </a:pPr>
            <a:r>
              <a:rPr sz="1400" b="0" i="0">
                <a:solidFill>
                  <a:srgbClr val="595260"/>
                </a:solidFill>
                <a:latin typeface="Calibri Light"/>
              </a:rPr>
              <a:t>Condition: status == TERMINATED</a:t>
            </a:r>
          </a:p>
          <a:p>
            <a:pPr>
              <a:spcBef>
                <a:spcPts val="100"/>
              </a:spcBef>
            </a:pPr>
            <a:endParaRPr sz="1400" b="0" i="0">
              <a:solidFill>
                <a:srgbClr val="595260"/>
              </a:solidFill>
              <a:latin typeface="Calibri Light"/>
            </a:endParaRPr>
          </a:p>
          <a:p>
            <a:pPr>
              <a:spcBef>
                <a:spcPts val="100"/>
              </a:spcBef>
            </a:pPr>
            <a:r>
              <a:rPr sz="1400" b="0" i="0">
                <a:solidFill>
                  <a:srgbClr val="595260"/>
                </a:solidFill>
                <a:latin typeface="Calibri Light"/>
              </a:rPr>
              <a:t>Target System: VPN</a:t>
            </a:r>
          </a:p>
          <a:p>
            <a:pPr>
              <a:spcBef>
                <a:spcPts val="100"/>
              </a:spcBef>
            </a:pPr>
            <a:r>
              <a:rPr sz="1400" b="0" i="0">
                <a:solidFill>
                  <a:srgbClr val="595260"/>
                </a:solidFill>
                <a:latin typeface="Calibri Light"/>
              </a:rPr>
              <a:t>Expected: status == DISABLED</a:t>
            </a:r>
          </a:p>
          <a:p>
            <a:pPr>
              <a:spcBef>
                <a:spcPts val="100"/>
              </a:spcBef>
            </a:pPr>
            <a:endParaRPr sz="1400" b="0" i="0">
              <a:solidFill>
                <a:srgbClr val="595260"/>
              </a:solidFill>
              <a:latin typeface="Calibri Light"/>
            </a:endParaRPr>
          </a:p>
          <a:p>
            <a:pPr>
              <a:spcBef>
                <a:spcPts val="100"/>
              </a:spcBef>
            </a:pPr>
            <a:r>
              <a:rPr sz="1400" b="0" i="0">
                <a:solidFill>
                  <a:srgbClr val="595260"/>
                </a:solidFill>
                <a:latin typeface="Calibri Light"/>
              </a:rPr>
              <a:t>Severity: CRITICAL</a:t>
            </a:r>
          </a:p>
          <a:p>
            <a:pPr>
              <a:spcBef>
                <a:spcPts val="100"/>
              </a:spcBef>
            </a:pPr>
            <a:r>
              <a:rPr sz="1400" b="0" i="0">
                <a:solidFill>
                  <a:srgbClr val="595260"/>
                </a:solidFill>
                <a:latin typeface="Calibri Light"/>
              </a:rPr>
              <a:t>Enabled: True</a:t>
            </a:r>
          </a:p>
          <a:p>
            <a:pPr>
              <a:spcBef>
                <a:spcPts val="100"/>
              </a:spcBef>
            </a:pPr>
            <a:endParaRPr sz="1400" b="0" i="0">
              <a:solidFill>
                <a:srgbClr val="595260"/>
              </a:solidFill>
              <a:latin typeface="Calibri Light"/>
            </a:endParaRPr>
          </a:p>
          <a:p>
            <a:pPr>
              <a:spcBef>
                <a:spcPts val="100"/>
              </a:spcBef>
            </a:pPr>
            <a:r>
              <a:rPr sz="1400" b="0" i="0">
                <a:solidFill>
                  <a:srgbClr val="595260"/>
                </a:solidFill>
                <a:latin typeface="Calibri Light"/>
              </a:rPr>
              <a:t>Interpretation:</a:t>
            </a:r>
          </a:p>
          <a:p>
            <a:pPr>
              <a:spcBef>
                <a:spcPts val="100"/>
              </a:spcBef>
            </a:pPr>
            <a:r>
              <a:rPr sz="1400" b="0" i="0">
                <a:solidFill>
                  <a:srgbClr val="595260"/>
                </a:solidFill>
                <a:latin typeface="Calibri Light"/>
              </a:rPr>
              <a:t>"A terminated employee</a:t>
            </a:r>
          </a:p>
          <a:p>
            <a:pPr>
              <a:spcBef>
                <a:spcPts val="100"/>
              </a:spcBef>
            </a:pPr>
            <a:r>
              <a:rPr sz="1400" b="0" i="0">
                <a:solidFill>
                  <a:srgbClr val="595260"/>
                </a:solidFill>
                <a:latin typeface="Calibri Light"/>
              </a:rPr>
              <a:t>must not have active</a:t>
            </a:r>
          </a:p>
          <a:p>
            <a:pPr>
              <a:spcBef>
                <a:spcPts val="100"/>
              </a:spcBef>
            </a:pPr>
            <a:r>
              <a:rPr sz="1400" b="0" i="0">
                <a:solidFill>
                  <a:srgbClr val="595260"/>
                </a:solidFill>
                <a:latin typeface="Calibri Light"/>
              </a:rPr>
              <a:t>VPN access."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0E8"/>
        </a:solidFill>
        <a:effectLst/>
      </p:bgPr>
    </p:bg>
    <p:spTree>
      <p:nvGrpSpPr>
        <p:cNvPr id="1" name=""/>
        <p:cNvGrpSpPr/>
        <p:nvPr/>
      </p:nvGrpSpPr>
      <p:grpSpPr>
        <a:xfrm>
          <a:off x="0" y="0"/>
          <a:ext cx="0" cy="0"/>
          <a:chOff x="0" y="0"/>
          <a:chExt cx="0" cy="0"/>
        </a:xfrm>
      </p:grpSpPr>
      <p:sp>
        <p:nvSpPr>
          <p:cNvPr id="2" name="Rectangle 1"/>
          <p:cNvSpPr/>
          <p:nvPr/>
        </p:nvSpPr>
        <p:spPr>
          <a:xfrm>
            <a:off x="457200" y="411480"/>
            <a:ext cx="201168" cy="457200"/>
          </a:xfrm>
          <a:prstGeom prst="rect">
            <a:avLst/>
          </a:prstGeom>
          <a:solidFill>
            <a:srgbClr val="786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320040"/>
            <a:ext cx="7315200" cy="502920"/>
          </a:xfrm>
          <a:prstGeom prst="rect">
            <a:avLst/>
          </a:prstGeom>
          <a:noFill/>
        </p:spPr>
        <p:txBody>
          <a:bodyPr wrap="square">
            <a:spAutoFit/>
          </a:bodyPr>
          <a:lstStyle/>
          <a:p>
            <a:pPr algn="l"/>
            <a:r>
              <a:rPr sz="2200" b="1" i="0">
                <a:solidFill>
                  <a:srgbClr val="332F3A"/>
                </a:solidFill>
                <a:latin typeface="Calibri"/>
              </a:rPr>
              <a:t>Reconciliation &amp; Drift Detection</a:t>
            </a:r>
          </a:p>
        </p:txBody>
      </p:sp>
      <p:sp>
        <p:nvSpPr>
          <p:cNvPr id="4" name="TextBox 3"/>
          <p:cNvSpPr txBox="1"/>
          <p:nvPr/>
        </p:nvSpPr>
        <p:spPr>
          <a:xfrm>
            <a:off x="822960" y="749808"/>
            <a:ext cx="7315200" cy="320040"/>
          </a:xfrm>
          <a:prstGeom prst="rect">
            <a:avLst/>
          </a:prstGeom>
          <a:noFill/>
        </p:spPr>
        <p:txBody>
          <a:bodyPr wrap="square">
            <a:spAutoFit/>
          </a:bodyPr>
          <a:lstStyle/>
          <a:p>
            <a:pPr algn="l"/>
            <a:r>
              <a:rPr sz="1100" b="0" i="0">
                <a:solidFill>
                  <a:srgbClr val="7E7684"/>
                </a:solidFill>
                <a:latin typeface="Calibri"/>
              </a:rPr>
              <a:t>apps.reconciliation · State collection · IntegrityViolation model</a:t>
            </a:r>
          </a:p>
        </p:txBody>
      </p:sp>
      <p:sp>
        <p:nvSpPr>
          <p:cNvPr id="5" name="TextBox 4"/>
          <p:cNvSpPr txBox="1"/>
          <p:nvPr/>
        </p:nvSpPr>
        <p:spPr>
          <a:xfrm>
            <a:off x="457200" y="6400800"/>
            <a:ext cx="7772400" cy="320040"/>
          </a:xfrm>
          <a:prstGeom prst="rect">
            <a:avLst/>
          </a:prstGeom>
          <a:noFill/>
        </p:spPr>
        <p:txBody>
          <a:bodyPr wrap="square">
            <a:spAutoFit/>
          </a:bodyPr>
          <a:lstStyle/>
          <a:p>
            <a:pPr>
              <a:defRPr sz="800">
                <a:solidFill>
                  <a:srgbClr val="7E7684"/>
                </a:solidFill>
                <a:latin typeface="Calibri"/>
              </a:defRPr>
            </a:pPr>
            <a:r>
              <a:t>ReconcileOS — Continuous Integrity Platform  |  Slide 10</a:t>
            </a:r>
          </a:p>
        </p:txBody>
      </p:sp>
      <p:sp>
        <p:nvSpPr>
          <p:cNvPr id="6" name="Rectangle 5"/>
          <p:cNvSpPr/>
          <p:nvPr/>
        </p:nvSpPr>
        <p:spPr>
          <a:xfrm>
            <a:off x="457200" y="6327648"/>
            <a:ext cx="8229600" cy="19050"/>
          </a:xfrm>
          <a:prstGeom prst="rect">
            <a:avLst/>
          </a:prstGeom>
          <a:solidFill>
            <a:srgbClr val="DED5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234440"/>
            <a:ext cx="8138160" cy="3683060"/>
          </a:xfrm>
          <a:prstGeom prst="rect">
            <a:avLst/>
          </a:prstGeom>
          <a:solidFill>
            <a:srgbClr val="FFFDF9"/>
          </a:solidFill>
        </p:spPr>
        <p:txBody>
          <a:bodyPr wrap="square">
            <a:spAutoFit/>
          </a:bodyPr>
          <a:lstStyle/>
          <a:p>
            <a:pPr>
              <a:spcAft>
                <a:spcPts val="400"/>
              </a:spcAft>
            </a:pPr>
            <a:r>
              <a:rPr sz="1400" b="1" i="0" dirty="0">
                <a:solidFill>
                  <a:srgbClr val="7865A5"/>
                </a:solidFill>
                <a:latin typeface="Calibri"/>
              </a:rPr>
              <a:t>▸ </a:t>
            </a:r>
            <a:r>
              <a:rPr sz="1400" b="0" i="0" dirty="0" err="1">
                <a:solidFill>
                  <a:srgbClr val="332F3A"/>
                </a:solidFill>
                <a:latin typeface="Calibri"/>
              </a:rPr>
              <a:t>StateCollector</a:t>
            </a:r>
            <a:r>
              <a:rPr sz="1400" b="0" i="0" dirty="0">
                <a:solidFill>
                  <a:srgbClr val="332F3A"/>
                </a:solidFill>
                <a:latin typeface="Calibri"/>
              </a:rPr>
              <a:t> service: Aggregates employee state across HR + all simulated downstream connectors (VPN, GitHub, Cloud IAM, Slack) into a unified multi-system snapshot.</a:t>
            </a:r>
          </a:p>
          <a:p>
            <a:pPr>
              <a:spcAft>
                <a:spcPts val="400"/>
              </a:spcAft>
            </a:pPr>
            <a:r>
              <a:rPr sz="1400" b="1" i="0" dirty="0">
                <a:solidFill>
                  <a:srgbClr val="7865A5"/>
                </a:solidFill>
                <a:latin typeface="Calibri"/>
              </a:rPr>
              <a:t>▸ </a:t>
            </a:r>
            <a:r>
              <a:rPr sz="1400" b="0" i="0" dirty="0" err="1">
                <a:solidFill>
                  <a:srgbClr val="332F3A"/>
                </a:solidFill>
                <a:latin typeface="Calibri"/>
              </a:rPr>
              <a:t>ReconciliationEngine.evaluate_employee_rules</a:t>
            </a:r>
            <a:r>
              <a:rPr sz="1400" b="0" i="0" dirty="0">
                <a:solidFill>
                  <a:srgbClr val="332F3A"/>
                </a:solidFill>
                <a:latin typeface="Calibri"/>
              </a:rPr>
              <a:t>(): Evaluates all active invariant rules against collected state for each employee.</a:t>
            </a:r>
          </a:p>
          <a:p>
            <a:pPr>
              <a:spcAft>
                <a:spcPts val="400"/>
              </a:spcAft>
            </a:pPr>
            <a:r>
              <a:rPr sz="1400" b="1" i="0" dirty="0">
                <a:solidFill>
                  <a:srgbClr val="7865A5"/>
                </a:solidFill>
                <a:latin typeface="Calibri"/>
              </a:rPr>
              <a:t>▸ </a:t>
            </a:r>
            <a:r>
              <a:rPr sz="1400" b="0" i="0" dirty="0">
                <a:solidFill>
                  <a:srgbClr val="332F3A"/>
                </a:solidFill>
                <a:latin typeface="Calibri"/>
              </a:rPr>
              <a:t>Drift detection: Compares actual target system state against expected state per rule. Mismatches create OPEN </a:t>
            </a:r>
            <a:r>
              <a:rPr sz="1400" b="0" i="0" dirty="0" err="1">
                <a:solidFill>
                  <a:srgbClr val="332F3A"/>
                </a:solidFill>
                <a:latin typeface="Calibri"/>
              </a:rPr>
              <a:t>IntegrityViolation</a:t>
            </a:r>
            <a:r>
              <a:rPr sz="1400" b="0" i="0" dirty="0">
                <a:solidFill>
                  <a:srgbClr val="332F3A"/>
                </a:solidFill>
                <a:latin typeface="Calibri"/>
              </a:rPr>
              <a:t> records.</a:t>
            </a:r>
          </a:p>
          <a:p>
            <a:pPr>
              <a:spcAft>
                <a:spcPts val="400"/>
              </a:spcAft>
            </a:pPr>
            <a:r>
              <a:rPr sz="1400" b="1" i="0" dirty="0">
                <a:solidFill>
                  <a:srgbClr val="7865A5"/>
                </a:solidFill>
                <a:latin typeface="Calibri"/>
              </a:rPr>
              <a:t>▸ </a:t>
            </a:r>
            <a:r>
              <a:rPr sz="1400" b="0" i="0" dirty="0">
                <a:solidFill>
                  <a:srgbClr val="332F3A"/>
                </a:solidFill>
                <a:latin typeface="Calibri"/>
              </a:rPr>
              <a:t>Deduplication: </a:t>
            </a:r>
            <a:r>
              <a:rPr sz="1400" b="0" i="0" dirty="0" err="1">
                <a:solidFill>
                  <a:srgbClr val="332F3A"/>
                </a:solidFill>
                <a:latin typeface="Calibri"/>
              </a:rPr>
              <a:t>get_or_create</a:t>
            </a:r>
            <a:r>
              <a:rPr sz="1400" b="0" i="0" dirty="0">
                <a:solidFill>
                  <a:srgbClr val="332F3A"/>
                </a:solidFill>
                <a:latin typeface="Calibri"/>
              </a:rPr>
              <a:t> prevents duplicate OPEN violations for the same employee/rule/system combination.</a:t>
            </a:r>
          </a:p>
          <a:p>
            <a:pPr>
              <a:spcAft>
                <a:spcPts val="400"/>
              </a:spcAft>
            </a:pPr>
            <a:r>
              <a:rPr sz="1400" b="1" i="0" dirty="0">
                <a:solidFill>
                  <a:srgbClr val="7865A5"/>
                </a:solidFill>
                <a:latin typeface="Calibri"/>
              </a:rPr>
              <a:t>▸ </a:t>
            </a:r>
            <a:r>
              <a:rPr sz="1400" b="0" i="0" dirty="0">
                <a:solidFill>
                  <a:srgbClr val="332F3A"/>
                </a:solidFill>
                <a:latin typeface="Calibri"/>
              </a:rPr>
              <a:t>Auto-resolution: If source condition is no longer met (e.g., employee reactivated), existing OPEN violations are automatically resolved.</a:t>
            </a:r>
          </a:p>
          <a:p>
            <a:pPr>
              <a:spcAft>
                <a:spcPts val="400"/>
              </a:spcAft>
            </a:pPr>
            <a:r>
              <a:rPr sz="1400" b="1" i="0" dirty="0">
                <a:solidFill>
                  <a:srgbClr val="7865A5"/>
                </a:solidFill>
                <a:latin typeface="Calibri"/>
              </a:rPr>
              <a:t>▸ </a:t>
            </a:r>
            <a:r>
              <a:rPr sz="1400" b="0" i="0" dirty="0" err="1">
                <a:solidFill>
                  <a:srgbClr val="332F3A"/>
                </a:solidFill>
                <a:latin typeface="Calibri"/>
              </a:rPr>
              <a:t>IntegrityViolation</a:t>
            </a:r>
            <a:r>
              <a:rPr sz="1400" b="0" i="0" dirty="0">
                <a:solidFill>
                  <a:srgbClr val="332F3A"/>
                </a:solidFill>
                <a:latin typeface="Calibri"/>
              </a:rPr>
              <a:t> model: employee, rule, </a:t>
            </a:r>
            <a:r>
              <a:rPr sz="1400" b="0" i="0" dirty="0" err="1">
                <a:solidFill>
                  <a:srgbClr val="332F3A"/>
                </a:solidFill>
                <a:latin typeface="Calibri"/>
              </a:rPr>
              <a:t>affected_system</a:t>
            </a:r>
            <a:r>
              <a:rPr sz="1400" b="0" i="0" dirty="0">
                <a:solidFill>
                  <a:srgbClr val="332F3A"/>
                </a:solidFill>
                <a:latin typeface="Calibri"/>
              </a:rPr>
              <a:t>, </a:t>
            </a:r>
            <a:r>
              <a:rPr sz="1400" b="0" i="0" dirty="0" err="1">
                <a:solidFill>
                  <a:srgbClr val="332F3A"/>
                </a:solidFill>
                <a:latin typeface="Calibri"/>
              </a:rPr>
              <a:t>expected_state</a:t>
            </a:r>
            <a:r>
              <a:rPr sz="1400" b="0" i="0" dirty="0">
                <a:solidFill>
                  <a:srgbClr val="332F3A"/>
                </a:solidFill>
                <a:latin typeface="Calibri"/>
              </a:rPr>
              <a:t>, </a:t>
            </a:r>
            <a:r>
              <a:rPr sz="1400" b="0" i="0" dirty="0" err="1">
                <a:solidFill>
                  <a:srgbClr val="332F3A"/>
                </a:solidFill>
                <a:latin typeface="Calibri"/>
              </a:rPr>
              <a:t>actual_state</a:t>
            </a:r>
            <a:r>
              <a:rPr sz="1400" b="0" i="0" dirty="0">
                <a:solidFill>
                  <a:srgbClr val="332F3A"/>
                </a:solidFill>
                <a:latin typeface="Calibri"/>
              </a:rPr>
              <a:t>, severity, status (OPEN/RESOLVED).</a:t>
            </a:r>
          </a:p>
          <a:p>
            <a:pPr>
              <a:spcAft>
                <a:spcPts val="400"/>
              </a:spcAft>
            </a:pPr>
            <a:r>
              <a:rPr sz="1400" b="1" i="0" dirty="0">
                <a:solidFill>
                  <a:srgbClr val="7865A5"/>
                </a:solidFill>
                <a:latin typeface="Calibri"/>
              </a:rPr>
              <a:t>▸ </a:t>
            </a:r>
            <a:r>
              <a:rPr sz="1400" b="0" i="0" dirty="0">
                <a:solidFill>
                  <a:srgbClr val="332F3A"/>
                </a:solidFill>
                <a:latin typeface="Calibri"/>
              </a:rPr>
              <a:t>Management command: python manage.py </a:t>
            </a:r>
            <a:r>
              <a:rPr sz="1400" b="0" i="0" dirty="0" err="1">
                <a:solidFill>
                  <a:srgbClr val="332F3A"/>
                </a:solidFill>
                <a:latin typeface="Calibri"/>
              </a:rPr>
              <a:t>run_reconciliation</a:t>
            </a:r>
            <a:r>
              <a:rPr sz="1400" b="0" i="0" dirty="0">
                <a:solidFill>
                  <a:srgbClr val="332F3A"/>
                </a:solidFill>
                <a:latin typeface="Calibri"/>
              </a:rPr>
              <a:t> — runs drift detection across all employees.</a:t>
            </a:r>
          </a:p>
          <a:p>
            <a:pPr>
              <a:spcAft>
                <a:spcPts val="400"/>
              </a:spcAft>
            </a:pPr>
            <a:r>
              <a:rPr sz="1400" b="1" i="0" dirty="0">
                <a:solidFill>
                  <a:srgbClr val="7865A5"/>
                </a:solidFill>
                <a:latin typeface="Calibri"/>
              </a:rPr>
              <a:t>▸ </a:t>
            </a:r>
            <a:r>
              <a:rPr sz="1400" b="0" i="0" dirty="0">
                <a:solidFill>
                  <a:srgbClr val="332F3A"/>
                </a:solidFill>
                <a:latin typeface="Calibri"/>
              </a:rPr>
              <a:t>API: GET /</a:t>
            </a:r>
            <a:r>
              <a:rPr sz="1400" b="0" i="0" dirty="0" err="1">
                <a:solidFill>
                  <a:srgbClr val="332F3A"/>
                </a:solidFill>
                <a:latin typeface="Calibri"/>
              </a:rPr>
              <a:t>api</a:t>
            </a:r>
            <a:r>
              <a:rPr sz="1400" b="0" i="0" dirty="0">
                <a:solidFill>
                  <a:srgbClr val="332F3A"/>
                </a:solidFill>
                <a:latin typeface="Calibri"/>
              </a:rPr>
              <a:t>/v1/reconciliation/state/ — returns multi-system state. GET /</a:t>
            </a:r>
            <a:r>
              <a:rPr sz="1400" b="0" i="0" dirty="0" err="1">
                <a:solidFill>
                  <a:srgbClr val="332F3A"/>
                </a:solidFill>
                <a:latin typeface="Calibri"/>
              </a:rPr>
              <a:t>api</a:t>
            </a:r>
            <a:r>
              <a:rPr sz="1400" b="0" i="0" dirty="0">
                <a:solidFill>
                  <a:srgbClr val="332F3A"/>
                </a:solidFill>
                <a:latin typeface="Calibri"/>
              </a:rPr>
              <a:t>/v1/reconciliation/violations/ — lists violations.</a:t>
            </a:r>
          </a:p>
        </p:txBody>
      </p:sp>
      <p:sp>
        <p:nvSpPr>
          <p:cNvPr id="8" name="TextBox 7"/>
          <p:cNvSpPr txBox="1"/>
          <p:nvPr/>
        </p:nvSpPr>
        <p:spPr>
          <a:xfrm>
            <a:off x="548640" y="5303520"/>
            <a:ext cx="8046720" cy="415498"/>
          </a:xfrm>
          <a:prstGeom prst="rect">
            <a:avLst/>
          </a:prstGeom>
          <a:noFill/>
        </p:spPr>
        <p:txBody>
          <a:bodyPr wrap="square">
            <a:spAutoFit/>
          </a:bodyPr>
          <a:lstStyle/>
          <a:p>
            <a:pPr algn="l"/>
            <a:r>
              <a:rPr sz="1050" b="0" i="0" dirty="0">
                <a:solidFill>
                  <a:srgbClr val="7E7684"/>
                </a:solidFill>
                <a:latin typeface="Calibri"/>
              </a:rPr>
              <a:t>Current limitation: Reconciliation is triggered manually via management commands or API calls. Continuous background scheduling (e.g., via Celery) is planned but not yet implemented.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0E8"/>
        </a:solidFill>
        <a:effectLst/>
      </p:bgPr>
    </p:bg>
    <p:spTree>
      <p:nvGrpSpPr>
        <p:cNvPr id="1" name=""/>
        <p:cNvGrpSpPr/>
        <p:nvPr/>
      </p:nvGrpSpPr>
      <p:grpSpPr>
        <a:xfrm>
          <a:off x="0" y="0"/>
          <a:ext cx="0" cy="0"/>
          <a:chOff x="0" y="0"/>
          <a:chExt cx="0" cy="0"/>
        </a:xfrm>
      </p:grpSpPr>
      <p:sp>
        <p:nvSpPr>
          <p:cNvPr id="2" name="Rectangle 1"/>
          <p:cNvSpPr/>
          <p:nvPr/>
        </p:nvSpPr>
        <p:spPr>
          <a:xfrm>
            <a:off x="457200" y="411480"/>
            <a:ext cx="201168" cy="457200"/>
          </a:xfrm>
          <a:prstGeom prst="rect">
            <a:avLst/>
          </a:prstGeom>
          <a:solidFill>
            <a:srgbClr val="786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320040"/>
            <a:ext cx="7315200" cy="502920"/>
          </a:xfrm>
          <a:prstGeom prst="rect">
            <a:avLst/>
          </a:prstGeom>
          <a:noFill/>
        </p:spPr>
        <p:txBody>
          <a:bodyPr wrap="square">
            <a:spAutoFit/>
          </a:bodyPr>
          <a:lstStyle/>
          <a:p>
            <a:pPr algn="l"/>
            <a:r>
              <a:rPr sz="2200" b="1" i="0">
                <a:solidFill>
                  <a:srgbClr val="332F3A"/>
                </a:solidFill>
                <a:latin typeface="Calibri"/>
              </a:rPr>
              <a:t>Remediation, Approvals &amp; Audit Trail</a:t>
            </a:r>
          </a:p>
        </p:txBody>
      </p:sp>
      <p:sp>
        <p:nvSpPr>
          <p:cNvPr id="4" name="TextBox 3"/>
          <p:cNvSpPr txBox="1"/>
          <p:nvPr/>
        </p:nvSpPr>
        <p:spPr>
          <a:xfrm>
            <a:off x="822960" y="749808"/>
            <a:ext cx="7315200" cy="320040"/>
          </a:xfrm>
          <a:prstGeom prst="rect">
            <a:avLst/>
          </a:prstGeom>
          <a:noFill/>
        </p:spPr>
        <p:txBody>
          <a:bodyPr wrap="square">
            <a:spAutoFit/>
          </a:bodyPr>
          <a:lstStyle/>
          <a:p>
            <a:pPr algn="l"/>
            <a:r>
              <a:rPr sz="1100" b="0" i="0">
                <a:solidFill>
                  <a:srgbClr val="7E7684"/>
                </a:solidFill>
                <a:latin typeface="Calibri"/>
              </a:rPr>
              <a:t>apps.workflows · apps.approvals · apps.audit</a:t>
            </a:r>
          </a:p>
        </p:txBody>
      </p:sp>
      <p:sp>
        <p:nvSpPr>
          <p:cNvPr id="5" name="TextBox 4"/>
          <p:cNvSpPr txBox="1"/>
          <p:nvPr/>
        </p:nvSpPr>
        <p:spPr>
          <a:xfrm>
            <a:off x="457200" y="6400800"/>
            <a:ext cx="7772400" cy="320040"/>
          </a:xfrm>
          <a:prstGeom prst="rect">
            <a:avLst/>
          </a:prstGeom>
          <a:noFill/>
        </p:spPr>
        <p:txBody>
          <a:bodyPr wrap="square">
            <a:spAutoFit/>
          </a:bodyPr>
          <a:lstStyle/>
          <a:p>
            <a:pPr>
              <a:defRPr sz="800">
                <a:solidFill>
                  <a:srgbClr val="7E7684"/>
                </a:solidFill>
                <a:latin typeface="Calibri"/>
              </a:defRPr>
            </a:pPr>
            <a:r>
              <a:t>ReconcileOS — Continuous Integrity Platform  |  Slide 11</a:t>
            </a:r>
          </a:p>
        </p:txBody>
      </p:sp>
      <p:sp>
        <p:nvSpPr>
          <p:cNvPr id="6" name="Rectangle 5"/>
          <p:cNvSpPr/>
          <p:nvPr/>
        </p:nvSpPr>
        <p:spPr>
          <a:xfrm>
            <a:off x="457200" y="6327648"/>
            <a:ext cx="8229600" cy="19050"/>
          </a:xfrm>
          <a:prstGeom prst="rect">
            <a:avLst/>
          </a:prstGeom>
          <a:solidFill>
            <a:srgbClr val="DED5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65760" y="1234440"/>
            <a:ext cx="2743200" cy="4114800"/>
          </a:xfrm>
          <a:prstGeom prst="roundRect">
            <a:avLst>
              <a:gd name="adj" fmla="val 5000"/>
            </a:avLst>
          </a:prstGeom>
          <a:solidFill>
            <a:srgbClr val="FFFDF9"/>
          </a:solidFill>
          <a:ln w="12700">
            <a:solidFill>
              <a:srgbClr val="7865A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i="0" dirty="0">
                <a:solidFill>
                  <a:srgbClr val="7865A5"/>
                </a:solidFill>
                <a:latin typeface="Calibri"/>
              </a:rPr>
              <a:t>Repair Planning &amp; Execution</a:t>
            </a:r>
          </a:p>
          <a:p>
            <a:pPr>
              <a:spcBef>
                <a:spcPts val="300"/>
              </a:spcBef>
            </a:pPr>
            <a:r>
              <a:rPr sz="1100" b="0" i="0" dirty="0">
                <a:solidFill>
                  <a:srgbClr val="595260"/>
                </a:solidFill>
                <a:latin typeface="Calibri"/>
              </a:rPr>
              <a:t>▸ </a:t>
            </a:r>
            <a:r>
              <a:rPr sz="1100" b="0" i="0" dirty="0" err="1">
                <a:solidFill>
                  <a:srgbClr val="595260"/>
                </a:solidFill>
                <a:latin typeface="Calibri"/>
              </a:rPr>
              <a:t>RepairPlanner</a:t>
            </a:r>
            <a:r>
              <a:rPr sz="1100" b="0" i="0" dirty="0">
                <a:solidFill>
                  <a:srgbClr val="595260"/>
                </a:solidFill>
                <a:latin typeface="Calibri"/>
              </a:rPr>
              <a:t> generates deterministic plans from violations</a:t>
            </a:r>
          </a:p>
          <a:p>
            <a:pPr>
              <a:spcBef>
                <a:spcPts val="300"/>
              </a:spcBef>
            </a:pPr>
            <a:r>
              <a:rPr sz="1100" b="0" i="0" dirty="0">
                <a:solidFill>
                  <a:srgbClr val="595260"/>
                </a:solidFill>
                <a:latin typeface="Calibri"/>
              </a:rPr>
              <a:t>▸ </a:t>
            </a:r>
            <a:r>
              <a:rPr sz="1100" b="0" i="0" dirty="0" err="1">
                <a:solidFill>
                  <a:srgbClr val="595260"/>
                </a:solidFill>
                <a:latin typeface="Calibri"/>
              </a:rPr>
              <a:t>RepairPlan</a:t>
            </a:r>
            <a:r>
              <a:rPr sz="1100" b="0" i="0" dirty="0">
                <a:solidFill>
                  <a:srgbClr val="595260"/>
                </a:solidFill>
                <a:latin typeface="Calibri"/>
              </a:rPr>
              <a:t> model: action, reason, </a:t>
            </a:r>
            <a:r>
              <a:rPr sz="1100" b="0" i="0" dirty="0" err="1">
                <a:solidFill>
                  <a:srgbClr val="595260"/>
                </a:solidFill>
                <a:latin typeface="Calibri"/>
              </a:rPr>
              <a:t>risk_level</a:t>
            </a:r>
            <a:r>
              <a:rPr sz="1100" b="0" i="0" dirty="0">
                <a:solidFill>
                  <a:srgbClr val="595260"/>
                </a:solidFill>
                <a:latin typeface="Calibri"/>
              </a:rPr>
              <a:t>, status lifecycle</a:t>
            </a:r>
          </a:p>
          <a:p>
            <a:pPr>
              <a:spcBef>
                <a:spcPts val="300"/>
              </a:spcBef>
            </a:pPr>
            <a:r>
              <a:rPr sz="1100" b="0" i="0" dirty="0">
                <a:solidFill>
                  <a:srgbClr val="595260"/>
                </a:solidFill>
                <a:latin typeface="Calibri"/>
              </a:rPr>
              <a:t>▸ </a:t>
            </a:r>
            <a:r>
              <a:rPr sz="1100" b="0" i="0" dirty="0" err="1">
                <a:solidFill>
                  <a:srgbClr val="595260"/>
                </a:solidFill>
                <a:latin typeface="Calibri"/>
              </a:rPr>
              <a:t>RepairExecutor</a:t>
            </a:r>
            <a:r>
              <a:rPr sz="1100" b="0" i="0" dirty="0">
                <a:solidFill>
                  <a:srgbClr val="595260"/>
                </a:solidFill>
                <a:latin typeface="Calibri"/>
              </a:rPr>
              <a:t> executes plans against connectors (e.g., disable VPN)</a:t>
            </a:r>
          </a:p>
          <a:p>
            <a:pPr>
              <a:spcBef>
                <a:spcPts val="300"/>
              </a:spcBef>
            </a:pPr>
            <a:r>
              <a:rPr sz="1100" b="0" i="0" dirty="0">
                <a:solidFill>
                  <a:srgbClr val="595260"/>
                </a:solidFill>
                <a:latin typeface="Calibri"/>
              </a:rPr>
              <a:t>▸ </a:t>
            </a:r>
            <a:r>
              <a:rPr sz="1100" b="0" i="0" dirty="0" err="1">
                <a:solidFill>
                  <a:srgbClr val="595260"/>
                </a:solidFill>
                <a:latin typeface="Calibri"/>
              </a:rPr>
              <a:t>RepairExecutionLog</a:t>
            </a:r>
            <a:r>
              <a:rPr sz="1100" b="0" i="0" dirty="0">
                <a:solidFill>
                  <a:srgbClr val="595260"/>
                </a:solidFill>
                <a:latin typeface="Calibri"/>
              </a:rPr>
              <a:t>: tracks attempts, idempotency, errors</a:t>
            </a:r>
          </a:p>
          <a:p>
            <a:pPr>
              <a:spcBef>
                <a:spcPts val="300"/>
              </a:spcBef>
            </a:pPr>
            <a:r>
              <a:rPr sz="1100" b="0" i="0" dirty="0">
                <a:solidFill>
                  <a:srgbClr val="595260"/>
                </a:solidFill>
                <a:latin typeface="Calibri"/>
              </a:rPr>
              <a:t>▸ Post-repair </a:t>
            </a:r>
            <a:r>
              <a:rPr sz="1100" b="0" i="0" dirty="0" err="1">
                <a:solidFill>
                  <a:srgbClr val="595260"/>
                </a:solidFill>
                <a:latin typeface="Calibri"/>
              </a:rPr>
              <a:t>RepairVerification</a:t>
            </a:r>
            <a:r>
              <a:rPr sz="1100" b="0" i="0" dirty="0">
                <a:solidFill>
                  <a:srgbClr val="595260"/>
                </a:solidFill>
                <a:latin typeface="Calibri"/>
              </a:rPr>
              <a:t> re-queries target system</a:t>
            </a:r>
          </a:p>
          <a:p>
            <a:pPr>
              <a:spcBef>
                <a:spcPts val="300"/>
              </a:spcBef>
            </a:pPr>
            <a:r>
              <a:rPr sz="1100" b="0" i="0" dirty="0">
                <a:solidFill>
                  <a:srgbClr val="595260"/>
                </a:solidFill>
                <a:latin typeface="Calibri"/>
              </a:rPr>
              <a:t>▸ Retry mechanics with configurable MAX_ATTEMPTS</a:t>
            </a:r>
          </a:p>
          <a:p>
            <a:pPr>
              <a:spcBef>
                <a:spcPts val="300"/>
              </a:spcBef>
            </a:pPr>
            <a:r>
              <a:rPr sz="1100" b="0" i="0" dirty="0">
                <a:solidFill>
                  <a:srgbClr val="595260"/>
                </a:solidFill>
                <a:latin typeface="Calibri"/>
              </a:rPr>
              <a:t>▸ Management commands: </a:t>
            </a:r>
            <a:r>
              <a:rPr sz="1100" b="0" i="0" dirty="0" err="1">
                <a:solidFill>
                  <a:srgbClr val="595260"/>
                </a:solidFill>
                <a:latin typeface="Calibri"/>
              </a:rPr>
              <a:t>generate_repair_plans</a:t>
            </a:r>
            <a:r>
              <a:rPr sz="1100" b="0" i="0" dirty="0">
                <a:solidFill>
                  <a:srgbClr val="595260"/>
                </a:solidFill>
                <a:latin typeface="Calibri"/>
              </a:rPr>
              <a:t>, </a:t>
            </a:r>
            <a:r>
              <a:rPr sz="1100" b="0" i="0" dirty="0" err="1">
                <a:solidFill>
                  <a:srgbClr val="595260"/>
                </a:solidFill>
                <a:latin typeface="Calibri"/>
              </a:rPr>
              <a:t>execute_repairs</a:t>
            </a:r>
            <a:r>
              <a:rPr sz="1100" b="0" i="0" dirty="0">
                <a:solidFill>
                  <a:srgbClr val="595260"/>
                </a:solidFill>
                <a:latin typeface="Calibri"/>
              </a:rPr>
              <a:t>, </a:t>
            </a:r>
            <a:r>
              <a:rPr sz="1100" b="0" i="0" dirty="0" err="1">
                <a:solidFill>
                  <a:srgbClr val="595260"/>
                </a:solidFill>
                <a:latin typeface="Calibri"/>
              </a:rPr>
              <a:t>verify_repair</a:t>
            </a:r>
            <a:endParaRPr sz="1100" b="0" i="0" dirty="0">
              <a:solidFill>
                <a:srgbClr val="595260"/>
              </a:solidFill>
              <a:latin typeface="Calibri"/>
            </a:endParaRPr>
          </a:p>
        </p:txBody>
      </p:sp>
      <p:sp>
        <p:nvSpPr>
          <p:cNvPr id="8" name="Rounded Rectangle 7"/>
          <p:cNvSpPr/>
          <p:nvPr/>
        </p:nvSpPr>
        <p:spPr>
          <a:xfrm>
            <a:off x="3200400" y="1234440"/>
            <a:ext cx="2560320" cy="4114800"/>
          </a:xfrm>
          <a:prstGeom prst="roundRect">
            <a:avLst>
              <a:gd name="adj" fmla="val 5000"/>
            </a:avLst>
          </a:prstGeom>
          <a:solidFill>
            <a:srgbClr val="FFFDF9"/>
          </a:solidFill>
          <a:ln w="12700">
            <a:solidFill>
              <a:srgbClr val="D98C2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b="1" i="0">
                <a:solidFill>
                  <a:srgbClr val="D98C2B"/>
                </a:solidFill>
                <a:latin typeface="Calibri"/>
              </a:rPr>
              <a:t>Human Approval Gate</a:t>
            </a:r>
          </a:p>
          <a:p>
            <a:pPr>
              <a:spcBef>
                <a:spcPts val="300"/>
              </a:spcBef>
            </a:pPr>
            <a:r>
              <a:rPr sz="1200" b="0" i="0">
                <a:solidFill>
                  <a:srgbClr val="595260"/>
                </a:solidFill>
                <a:latin typeface="Calibri"/>
              </a:rPr>
              <a:t>▸ ApprovalRequest model with PENDING / APPROVED / REJECTED lifecycle</a:t>
            </a:r>
          </a:p>
          <a:p>
            <a:pPr>
              <a:spcBef>
                <a:spcPts val="300"/>
              </a:spcBef>
            </a:pPr>
            <a:r>
              <a:rPr sz="1200" b="0" i="0">
                <a:solidFill>
                  <a:srgbClr val="595260"/>
                </a:solidFill>
                <a:latin typeface="Calibri"/>
              </a:rPr>
              <a:t>▸ Linked to RepairPlan — blocks execution until approved</a:t>
            </a:r>
          </a:p>
          <a:p>
            <a:pPr>
              <a:spcBef>
                <a:spcPts val="300"/>
              </a:spcBef>
            </a:pPr>
            <a:r>
              <a:rPr sz="1200" b="0" i="0">
                <a:solidFill>
                  <a:srgbClr val="595260"/>
                </a:solidFill>
                <a:latin typeface="Calibri"/>
              </a:rPr>
              <a:t>▸ Tracks requested_by and decided_by users</a:t>
            </a:r>
          </a:p>
          <a:p>
            <a:pPr>
              <a:spcBef>
                <a:spcPts val="300"/>
              </a:spcBef>
            </a:pPr>
            <a:r>
              <a:rPr sz="1200" b="0" i="0">
                <a:solidFill>
                  <a:srgbClr val="595260"/>
                </a:solidFill>
                <a:latin typeface="Calibri"/>
              </a:rPr>
              <a:t>▸ Approval decision timestamp and comments</a:t>
            </a:r>
          </a:p>
          <a:p>
            <a:pPr>
              <a:spcBef>
                <a:spcPts val="300"/>
              </a:spcBef>
            </a:pPr>
            <a:r>
              <a:rPr sz="1200" b="0" i="0">
                <a:solidFill>
                  <a:srgbClr val="595260"/>
                </a:solidFill>
                <a:latin typeface="Calibri"/>
              </a:rPr>
              <a:t>▸ Frontend ApprovalsPage with approve/reject UI (ADMIN/OPERATOR only)</a:t>
            </a:r>
          </a:p>
        </p:txBody>
      </p:sp>
      <p:sp>
        <p:nvSpPr>
          <p:cNvPr id="9" name="Rounded Rectangle 8"/>
          <p:cNvSpPr/>
          <p:nvPr/>
        </p:nvSpPr>
        <p:spPr>
          <a:xfrm>
            <a:off x="5852160" y="1234440"/>
            <a:ext cx="2834640" cy="4114800"/>
          </a:xfrm>
          <a:prstGeom prst="roundRect">
            <a:avLst>
              <a:gd name="adj" fmla="val 5000"/>
            </a:avLst>
          </a:prstGeom>
          <a:solidFill>
            <a:srgbClr val="FFFDF9"/>
          </a:solidFill>
          <a:ln w="12700">
            <a:solidFill>
              <a:srgbClr val="2BAE7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b="1" i="0" dirty="0">
                <a:solidFill>
                  <a:srgbClr val="2BAE7B"/>
                </a:solidFill>
                <a:latin typeface="Calibri"/>
              </a:rPr>
              <a:t>Tamper-Evident Audit Trail</a:t>
            </a:r>
          </a:p>
          <a:p>
            <a:pPr>
              <a:spcBef>
                <a:spcPts val="300"/>
              </a:spcBef>
            </a:pPr>
            <a:r>
              <a:rPr sz="1200" b="0" i="0" dirty="0">
                <a:solidFill>
                  <a:srgbClr val="595260"/>
                </a:solidFill>
                <a:latin typeface="Calibri"/>
              </a:rPr>
              <a:t>▸ </a:t>
            </a:r>
            <a:r>
              <a:rPr sz="1200" b="0" i="0" dirty="0" err="1">
                <a:solidFill>
                  <a:srgbClr val="595260"/>
                </a:solidFill>
                <a:latin typeface="Calibri"/>
              </a:rPr>
              <a:t>AuditLog</a:t>
            </a:r>
            <a:r>
              <a:rPr sz="1200" b="0" i="0" dirty="0">
                <a:solidFill>
                  <a:srgbClr val="595260"/>
                </a:solidFill>
                <a:latin typeface="Calibri"/>
              </a:rPr>
              <a:t> model: 12 event types across full pipeline</a:t>
            </a:r>
          </a:p>
          <a:p>
            <a:pPr>
              <a:spcBef>
                <a:spcPts val="300"/>
              </a:spcBef>
            </a:pPr>
            <a:r>
              <a:rPr sz="1200" b="0" i="0" dirty="0">
                <a:solidFill>
                  <a:srgbClr val="595260"/>
                </a:solidFill>
                <a:latin typeface="Calibri"/>
              </a:rPr>
              <a:t>▸ SHA-256 cryptographic hash chain — each record hashes with previous</a:t>
            </a:r>
          </a:p>
          <a:p>
            <a:pPr>
              <a:spcBef>
                <a:spcPts val="300"/>
              </a:spcBef>
            </a:pPr>
            <a:r>
              <a:rPr sz="1200" b="0" i="0" dirty="0">
                <a:solidFill>
                  <a:srgbClr val="595260"/>
                </a:solidFill>
                <a:latin typeface="Calibri"/>
              </a:rPr>
              <a:t>▸ Append-only: save() blocks updates, delete() raises error</a:t>
            </a:r>
          </a:p>
          <a:p>
            <a:pPr>
              <a:spcBef>
                <a:spcPts val="300"/>
              </a:spcBef>
            </a:pPr>
            <a:r>
              <a:rPr sz="1200" b="0" i="0" dirty="0">
                <a:solidFill>
                  <a:srgbClr val="595260"/>
                </a:solidFill>
                <a:latin typeface="Calibri"/>
              </a:rPr>
              <a:t>▸ Canonical JSON-stable payload serialization</a:t>
            </a:r>
          </a:p>
          <a:p>
            <a:pPr>
              <a:spcBef>
                <a:spcPts val="300"/>
              </a:spcBef>
            </a:pPr>
            <a:r>
              <a:rPr sz="1200" b="0" i="0" dirty="0">
                <a:solidFill>
                  <a:srgbClr val="595260"/>
                </a:solidFill>
                <a:latin typeface="Calibri"/>
              </a:rPr>
              <a:t>▸ Chain verification API: GET /</a:t>
            </a:r>
            <a:r>
              <a:rPr sz="1200" b="0" i="0" dirty="0" err="1">
                <a:solidFill>
                  <a:srgbClr val="595260"/>
                </a:solidFill>
                <a:latin typeface="Calibri"/>
              </a:rPr>
              <a:t>api</a:t>
            </a:r>
            <a:r>
              <a:rPr sz="1200" b="0" i="0" dirty="0">
                <a:solidFill>
                  <a:srgbClr val="595260"/>
                </a:solidFill>
                <a:latin typeface="Calibri"/>
              </a:rPr>
              <a:t>/v1/audit/logs/</a:t>
            </a:r>
            <a:r>
              <a:rPr sz="1200" b="0" i="0" dirty="0" err="1">
                <a:solidFill>
                  <a:srgbClr val="595260"/>
                </a:solidFill>
                <a:latin typeface="Calibri"/>
              </a:rPr>
              <a:t>verify_chain</a:t>
            </a:r>
            <a:r>
              <a:rPr sz="1200" b="0" i="0" dirty="0">
                <a:solidFill>
                  <a:srgbClr val="595260"/>
                </a:solidFill>
                <a:latin typeface="Calibri"/>
              </a:rPr>
              <a:t>/</a:t>
            </a:r>
          </a:p>
          <a:p>
            <a:pPr>
              <a:spcBef>
                <a:spcPts val="300"/>
              </a:spcBef>
            </a:pPr>
            <a:r>
              <a:rPr sz="1200" b="0" i="0" dirty="0">
                <a:solidFill>
                  <a:srgbClr val="595260"/>
                </a:solidFill>
                <a:latin typeface="Calibri"/>
              </a:rPr>
              <a:t>▸ </a:t>
            </a:r>
            <a:r>
              <a:rPr sz="1200" b="0" i="0" dirty="0" err="1">
                <a:solidFill>
                  <a:srgbClr val="595260"/>
                </a:solidFill>
                <a:latin typeface="Calibri"/>
              </a:rPr>
              <a:t>AuditLogger</a:t>
            </a:r>
            <a:r>
              <a:rPr sz="1200" b="0" i="0" dirty="0">
                <a:solidFill>
                  <a:srgbClr val="595260"/>
                </a:solidFill>
                <a:latin typeface="Calibri"/>
              </a:rPr>
              <a:t> service emits events at every pipeline stage</a:t>
            </a:r>
          </a:p>
          <a:p>
            <a:pPr>
              <a:spcBef>
                <a:spcPts val="300"/>
              </a:spcBef>
            </a:pPr>
            <a:r>
              <a:rPr sz="1200" b="0" i="0" dirty="0">
                <a:solidFill>
                  <a:srgbClr val="595260"/>
                </a:solidFill>
                <a:latin typeface="Calibri"/>
              </a:rPr>
              <a:t>▸ 9 automated tests for integrity, chaining, and immutability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0E8"/>
        </a:solidFill>
        <a:effectLst/>
      </p:bgPr>
    </p:bg>
    <p:spTree>
      <p:nvGrpSpPr>
        <p:cNvPr id="1" name=""/>
        <p:cNvGrpSpPr/>
        <p:nvPr/>
      </p:nvGrpSpPr>
      <p:grpSpPr>
        <a:xfrm>
          <a:off x="0" y="0"/>
          <a:ext cx="0" cy="0"/>
          <a:chOff x="0" y="0"/>
          <a:chExt cx="0" cy="0"/>
        </a:xfrm>
      </p:grpSpPr>
      <p:sp>
        <p:nvSpPr>
          <p:cNvPr id="2" name="Rectangle 1"/>
          <p:cNvSpPr/>
          <p:nvPr/>
        </p:nvSpPr>
        <p:spPr>
          <a:xfrm>
            <a:off x="457200" y="411480"/>
            <a:ext cx="201168" cy="457200"/>
          </a:xfrm>
          <a:prstGeom prst="rect">
            <a:avLst/>
          </a:prstGeom>
          <a:solidFill>
            <a:srgbClr val="786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320040"/>
            <a:ext cx="7315200" cy="502920"/>
          </a:xfrm>
          <a:prstGeom prst="rect">
            <a:avLst/>
          </a:prstGeom>
          <a:noFill/>
        </p:spPr>
        <p:txBody>
          <a:bodyPr wrap="square">
            <a:spAutoFit/>
          </a:bodyPr>
          <a:lstStyle/>
          <a:p>
            <a:pPr algn="l"/>
            <a:r>
              <a:rPr sz="2200" b="1" i="0">
                <a:solidFill>
                  <a:srgbClr val="332F3A"/>
                </a:solidFill>
                <a:latin typeface="Calibri"/>
              </a:rPr>
              <a:t>Frontend &amp; User Interface</a:t>
            </a:r>
          </a:p>
        </p:txBody>
      </p:sp>
      <p:sp>
        <p:nvSpPr>
          <p:cNvPr id="4" name="TextBox 3"/>
          <p:cNvSpPr txBox="1"/>
          <p:nvPr/>
        </p:nvSpPr>
        <p:spPr>
          <a:xfrm>
            <a:off x="822960" y="749808"/>
            <a:ext cx="7315200" cy="320040"/>
          </a:xfrm>
          <a:prstGeom prst="rect">
            <a:avLst/>
          </a:prstGeom>
          <a:noFill/>
        </p:spPr>
        <p:txBody>
          <a:bodyPr wrap="square">
            <a:spAutoFit/>
          </a:bodyPr>
          <a:lstStyle/>
          <a:p>
            <a:pPr algn="l"/>
            <a:r>
              <a:rPr sz="1100" b="0" i="0">
                <a:solidFill>
                  <a:srgbClr val="7E7684"/>
                </a:solidFill>
                <a:latin typeface="Calibri"/>
              </a:rPr>
              <a:t>React 19 · Vite 8 · 10+ routes · Real-time API integration</a:t>
            </a:r>
          </a:p>
        </p:txBody>
      </p:sp>
      <p:sp>
        <p:nvSpPr>
          <p:cNvPr id="5" name="TextBox 4"/>
          <p:cNvSpPr txBox="1"/>
          <p:nvPr/>
        </p:nvSpPr>
        <p:spPr>
          <a:xfrm>
            <a:off x="457200" y="6400800"/>
            <a:ext cx="7772400" cy="320040"/>
          </a:xfrm>
          <a:prstGeom prst="rect">
            <a:avLst/>
          </a:prstGeom>
          <a:noFill/>
        </p:spPr>
        <p:txBody>
          <a:bodyPr wrap="square">
            <a:spAutoFit/>
          </a:bodyPr>
          <a:lstStyle/>
          <a:p>
            <a:pPr>
              <a:defRPr sz="800">
                <a:solidFill>
                  <a:srgbClr val="7E7684"/>
                </a:solidFill>
                <a:latin typeface="Calibri"/>
              </a:defRPr>
            </a:pPr>
            <a:r>
              <a:t>ReconcileOS — Continuous Integrity Platform  |  Slide 12</a:t>
            </a:r>
          </a:p>
        </p:txBody>
      </p:sp>
      <p:sp>
        <p:nvSpPr>
          <p:cNvPr id="6" name="Rectangle 5"/>
          <p:cNvSpPr/>
          <p:nvPr/>
        </p:nvSpPr>
        <p:spPr>
          <a:xfrm>
            <a:off x="457200" y="6327648"/>
            <a:ext cx="8229600" cy="19050"/>
          </a:xfrm>
          <a:prstGeom prst="rect">
            <a:avLst/>
          </a:prstGeom>
          <a:solidFill>
            <a:srgbClr val="DED5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7200" y="1280160"/>
            <a:ext cx="4023360" cy="777240"/>
          </a:xfrm>
          <a:prstGeom prst="roundRect">
            <a:avLst>
              <a:gd name="adj" fmla="val 5000"/>
            </a:avLst>
          </a:prstGeom>
          <a:solidFill>
            <a:srgbClr val="FFFDF9"/>
          </a:solidFill>
          <a:ln w="12700">
            <a:solidFill>
              <a:srgbClr val="DED5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i="0">
                <a:solidFill>
                  <a:srgbClr val="7865A5"/>
                </a:solidFill>
                <a:latin typeface="Calibri"/>
              </a:rPr>
              <a:t>Landing Page</a:t>
            </a:r>
            <a:r>
              <a:rPr sz="1000" b="0" i="0">
                <a:solidFill>
                  <a:srgbClr val="595260"/>
                </a:solidFill>
                <a:latin typeface="Calibri"/>
              </a:rPr>
              <a:t>  — Public marketing page with ReconcileOS branding and feature highlights</a:t>
            </a:r>
          </a:p>
        </p:txBody>
      </p:sp>
      <p:sp>
        <p:nvSpPr>
          <p:cNvPr id="8" name="Rounded Rectangle 7"/>
          <p:cNvSpPr/>
          <p:nvPr/>
        </p:nvSpPr>
        <p:spPr>
          <a:xfrm>
            <a:off x="4663440" y="1280160"/>
            <a:ext cx="4023360" cy="777240"/>
          </a:xfrm>
          <a:prstGeom prst="roundRect">
            <a:avLst>
              <a:gd name="adj" fmla="val 5000"/>
            </a:avLst>
          </a:prstGeom>
          <a:solidFill>
            <a:srgbClr val="FFFDF9"/>
          </a:solidFill>
          <a:ln w="12700">
            <a:solidFill>
              <a:srgbClr val="DED5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i="0">
                <a:solidFill>
                  <a:srgbClr val="7865A5"/>
                </a:solidFill>
                <a:latin typeface="Calibri"/>
              </a:rPr>
              <a:t>Login Page</a:t>
            </a:r>
            <a:r>
              <a:rPr sz="1000" b="0" i="0">
                <a:solidFill>
                  <a:srgbClr val="595260"/>
                </a:solidFill>
                <a:latin typeface="Calibri"/>
              </a:rPr>
              <a:t>  — Split-panel design, JWT auth, 3 role presets (Admin, Operator, Viewer)</a:t>
            </a:r>
          </a:p>
        </p:txBody>
      </p:sp>
      <p:sp>
        <p:nvSpPr>
          <p:cNvPr id="9" name="Rounded Rectangle 8"/>
          <p:cNvSpPr/>
          <p:nvPr/>
        </p:nvSpPr>
        <p:spPr>
          <a:xfrm>
            <a:off x="457200" y="2148839"/>
            <a:ext cx="4023360" cy="777240"/>
          </a:xfrm>
          <a:prstGeom prst="roundRect">
            <a:avLst>
              <a:gd name="adj" fmla="val 5000"/>
            </a:avLst>
          </a:prstGeom>
          <a:solidFill>
            <a:srgbClr val="FFFDF9"/>
          </a:solidFill>
          <a:ln w="12700">
            <a:solidFill>
              <a:srgbClr val="DED5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i="0">
                <a:solidFill>
                  <a:srgbClr val="7865A5"/>
                </a:solidFill>
                <a:latin typeface="Calibri"/>
              </a:rPr>
              <a:t>Dashboard</a:t>
            </a:r>
            <a:r>
              <a:rPr sz="1000" b="0" i="0">
                <a:solidFill>
                  <a:srgbClr val="595260"/>
                </a:solidFill>
                <a:latin typeface="Calibri"/>
              </a:rPr>
              <a:t>  — Live stat cards, integrity drift visualization, reconciliation lifecycle stepper</a:t>
            </a:r>
          </a:p>
        </p:txBody>
      </p:sp>
      <p:sp>
        <p:nvSpPr>
          <p:cNvPr id="10" name="Rounded Rectangle 9"/>
          <p:cNvSpPr/>
          <p:nvPr/>
        </p:nvSpPr>
        <p:spPr>
          <a:xfrm>
            <a:off x="4663440" y="2148839"/>
            <a:ext cx="4023360" cy="777240"/>
          </a:xfrm>
          <a:prstGeom prst="roundRect">
            <a:avLst>
              <a:gd name="adj" fmla="val 5000"/>
            </a:avLst>
          </a:prstGeom>
          <a:solidFill>
            <a:srgbClr val="FFFDF9"/>
          </a:solidFill>
          <a:ln w="12700">
            <a:solidFill>
              <a:srgbClr val="DED5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i="0">
                <a:solidFill>
                  <a:srgbClr val="7865A5"/>
                </a:solidFill>
                <a:latin typeface="Calibri"/>
              </a:rPr>
              <a:t>Employees</a:t>
            </a:r>
            <a:r>
              <a:rPr sz="1000" b="0" i="0">
                <a:solidFill>
                  <a:srgbClr val="595260"/>
                </a:solidFill>
                <a:latin typeface="Calibri"/>
              </a:rPr>
              <a:t>  — Full CRUD wired to API — Add, View, Edit, Terminate employees</a:t>
            </a:r>
          </a:p>
        </p:txBody>
      </p:sp>
      <p:sp>
        <p:nvSpPr>
          <p:cNvPr id="11" name="Rounded Rectangle 10"/>
          <p:cNvSpPr/>
          <p:nvPr/>
        </p:nvSpPr>
        <p:spPr>
          <a:xfrm>
            <a:off x="457200" y="3017520"/>
            <a:ext cx="4023360" cy="777240"/>
          </a:xfrm>
          <a:prstGeom prst="roundRect">
            <a:avLst>
              <a:gd name="adj" fmla="val 5000"/>
            </a:avLst>
          </a:prstGeom>
          <a:solidFill>
            <a:srgbClr val="FFFDF9"/>
          </a:solidFill>
          <a:ln w="12700">
            <a:solidFill>
              <a:srgbClr val="DED5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i="0">
                <a:solidFill>
                  <a:srgbClr val="7865A5"/>
                </a:solidFill>
                <a:latin typeface="Calibri"/>
              </a:rPr>
              <a:t>Connected Systems</a:t>
            </a:r>
            <a:r>
              <a:rPr sz="1000" b="0" i="0">
                <a:solidFill>
                  <a:srgbClr val="595260"/>
                </a:solidFill>
                <a:latin typeface="Calibri"/>
              </a:rPr>
              <a:t>  — Live system state from API — VPN, GitHub, Cloud IAM, Slack telemetry</a:t>
            </a:r>
          </a:p>
        </p:txBody>
      </p:sp>
      <p:sp>
        <p:nvSpPr>
          <p:cNvPr id="12" name="Rounded Rectangle 11"/>
          <p:cNvSpPr/>
          <p:nvPr/>
        </p:nvSpPr>
        <p:spPr>
          <a:xfrm>
            <a:off x="4663440" y="3017520"/>
            <a:ext cx="4023360" cy="777240"/>
          </a:xfrm>
          <a:prstGeom prst="roundRect">
            <a:avLst>
              <a:gd name="adj" fmla="val 5000"/>
            </a:avLst>
          </a:prstGeom>
          <a:solidFill>
            <a:srgbClr val="FFFDF9"/>
          </a:solidFill>
          <a:ln w="12700">
            <a:solidFill>
              <a:srgbClr val="DED5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i="0">
                <a:solidFill>
                  <a:srgbClr val="7865A5"/>
                </a:solidFill>
                <a:latin typeface="Calibri"/>
              </a:rPr>
              <a:t>Rules</a:t>
            </a:r>
            <a:r>
              <a:rPr sz="1000" b="0" i="0">
                <a:solidFill>
                  <a:srgbClr val="595260"/>
                </a:solidFill>
                <a:latin typeface="Calibri"/>
              </a:rPr>
              <a:t>  — View and manage invariant rules via API</a:t>
            </a:r>
          </a:p>
        </p:txBody>
      </p:sp>
      <p:sp>
        <p:nvSpPr>
          <p:cNvPr id="13" name="Rounded Rectangle 12"/>
          <p:cNvSpPr/>
          <p:nvPr/>
        </p:nvSpPr>
        <p:spPr>
          <a:xfrm>
            <a:off x="457200" y="3886200"/>
            <a:ext cx="4023360" cy="777240"/>
          </a:xfrm>
          <a:prstGeom prst="roundRect">
            <a:avLst>
              <a:gd name="adj" fmla="val 5000"/>
            </a:avLst>
          </a:prstGeom>
          <a:solidFill>
            <a:srgbClr val="FFFDF9"/>
          </a:solidFill>
          <a:ln w="12700">
            <a:solidFill>
              <a:srgbClr val="DED5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i="0">
                <a:solidFill>
                  <a:srgbClr val="7865A5"/>
                </a:solidFill>
                <a:latin typeface="Calibri"/>
              </a:rPr>
              <a:t>Violations</a:t>
            </a:r>
            <a:r>
              <a:rPr sz="1000" b="0" i="0">
                <a:solidFill>
                  <a:srgbClr val="595260"/>
                </a:solidFill>
                <a:latin typeface="Calibri"/>
              </a:rPr>
              <a:t>  — Lists active integrity violations from real backend</a:t>
            </a:r>
          </a:p>
        </p:txBody>
      </p:sp>
      <p:sp>
        <p:nvSpPr>
          <p:cNvPr id="14" name="Rounded Rectangle 13"/>
          <p:cNvSpPr/>
          <p:nvPr/>
        </p:nvSpPr>
        <p:spPr>
          <a:xfrm>
            <a:off x="4663440" y="3886200"/>
            <a:ext cx="4023360" cy="777240"/>
          </a:xfrm>
          <a:prstGeom prst="roundRect">
            <a:avLst>
              <a:gd name="adj" fmla="val 5000"/>
            </a:avLst>
          </a:prstGeom>
          <a:solidFill>
            <a:srgbClr val="FFFDF9"/>
          </a:solidFill>
          <a:ln w="12700">
            <a:solidFill>
              <a:srgbClr val="DED5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i="0">
                <a:solidFill>
                  <a:srgbClr val="7865A5"/>
                </a:solidFill>
                <a:latin typeface="Calibri"/>
              </a:rPr>
              <a:t>Repairs</a:t>
            </a:r>
            <a:r>
              <a:rPr sz="1000" b="0" i="0">
                <a:solidFill>
                  <a:srgbClr val="595260"/>
                </a:solidFill>
                <a:latin typeface="Calibri"/>
              </a:rPr>
              <a:t>  — Repair plan list, generate and execute actions</a:t>
            </a:r>
          </a:p>
        </p:txBody>
      </p:sp>
      <p:sp>
        <p:nvSpPr>
          <p:cNvPr id="15" name="Rounded Rectangle 14"/>
          <p:cNvSpPr/>
          <p:nvPr/>
        </p:nvSpPr>
        <p:spPr>
          <a:xfrm>
            <a:off x="457200" y="4754879"/>
            <a:ext cx="4023360" cy="777240"/>
          </a:xfrm>
          <a:prstGeom prst="roundRect">
            <a:avLst>
              <a:gd name="adj" fmla="val 5000"/>
            </a:avLst>
          </a:prstGeom>
          <a:solidFill>
            <a:srgbClr val="FFFDF9"/>
          </a:solidFill>
          <a:ln w="12700">
            <a:solidFill>
              <a:srgbClr val="DED5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i="0">
                <a:solidFill>
                  <a:srgbClr val="7865A5"/>
                </a:solidFill>
                <a:latin typeface="Calibri"/>
              </a:rPr>
              <a:t>Approvals</a:t>
            </a:r>
            <a:r>
              <a:rPr sz="1000" b="0" i="0">
                <a:solidFill>
                  <a:srgbClr val="595260"/>
                </a:solidFill>
                <a:latin typeface="Calibri"/>
              </a:rPr>
              <a:t>  — Approve/reject repair plans (restricted to ADMIN/OPERATOR)</a:t>
            </a:r>
          </a:p>
        </p:txBody>
      </p:sp>
      <p:sp>
        <p:nvSpPr>
          <p:cNvPr id="16" name="Rounded Rectangle 15"/>
          <p:cNvSpPr/>
          <p:nvPr/>
        </p:nvSpPr>
        <p:spPr>
          <a:xfrm>
            <a:off x="4663440" y="4754879"/>
            <a:ext cx="4023360" cy="777240"/>
          </a:xfrm>
          <a:prstGeom prst="roundRect">
            <a:avLst>
              <a:gd name="adj" fmla="val 5000"/>
            </a:avLst>
          </a:prstGeom>
          <a:solidFill>
            <a:srgbClr val="FFFDF9"/>
          </a:solidFill>
          <a:ln w="12700">
            <a:solidFill>
              <a:srgbClr val="DED5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i="0">
                <a:solidFill>
                  <a:srgbClr val="7865A5"/>
                </a:solidFill>
                <a:latin typeface="Calibri"/>
              </a:rPr>
              <a:t>Audit Logs</a:t>
            </a:r>
            <a:r>
              <a:rPr sz="1000" b="0" i="0">
                <a:solidFill>
                  <a:srgbClr val="595260"/>
                </a:solidFill>
                <a:latin typeface="Calibri"/>
              </a:rPr>
              <a:t>  — Chronological audit stream with chain verification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0E8"/>
        </a:solidFill>
        <a:effectLst/>
      </p:bgPr>
    </p:bg>
    <p:spTree>
      <p:nvGrpSpPr>
        <p:cNvPr id="1" name=""/>
        <p:cNvGrpSpPr/>
        <p:nvPr/>
      </p:nvGrpSpPr>
      <p:grpSpPr>
        <a:xfrm>
          <a:off x="0" y="0"/>
          <a:ext cx="0" cy="0"/>
          <a:chOff x="0" y="0"/>
          <a:chExt cx="0" cy="0"/>
        </a:xfrm>
      </p:grpSpPr>
      <p:sp>
        <p:nvSpPr>
          <p:cNvPr id="2" name="Rectangle 1"/>
          <p:cNvSpPr/>
          <p:nvPr/>
        </p:nvSpPr>
        <p:spPr>
          <a:xfrm>
            <a:off x="457200" y="411480"/>
            <a:ext cx="201168" cy="457200"/>
          </a:xfrm>
          <a:prstGeom prst="rect">
            <a:avLst/>
          </a:prstGeom>
          <a:solidFill>
            <a:srgbClr val="786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320040"/>
            <a:ext cx="7315200" cy="502920"/>
          </a:xfrm>
          <a:prstGeom prst="rect">
            <a:avLst/>
          </a:prstGeom>
          <a:noFill/>
        </p:spPr>
        <p:txBody>
          <a:bodyPr wrap="square">
            <a:spAutoFit/>
          </a:bodyPr>
          <a:lstStyle/>
          <a:p>
            <a:pPr algn="l"/>
            <a:r>
              <a:rPr sz="2200" b="1" i="0">
                <a:solidFill>
                  <a:srgbClr val="332F3A"/>
                </a:solidFill>
                <a:latin typeface="Calibri"/>
              </a:rPr>
              <a:t>Testing &amp; Verification Results</a:t>
            </a:r>
          </a:p>
        </p:txBody>
      </p:sp>
      <p:sp>
        <p:nvSpPr>
          <p:cNvPr id="4" name="TextBox 3"/>
          <p:cNvSpPr txBox="1"/>
          <p:nvPr/>
        </p:nvSpPr>
        <p:spPr>
          <a:xfrm>
            <a:off x="822960" y="749808"/>
            <a:ext cx="7315200" cy="320040"/>
          </a:xfrm>
          <a:prstGeom prst="rect">
            <a:avLst/>
          </a:prstGeom>
          <a:noFill/>
        </p:spPr>
        <p:txBody>
          <a:bodyPr wrap="square">
            <a:spAutoFit/>
          </a:bodyPr>
          <a:lstStyle/>
          <a:p>
            <a:pPr algn="l"/>
            <a:r>
              <a:rPr sz="1100" b="0" i="0">
                <a:solidFill>
                  <a:srgbClr val="7E7684"/>
                </a:solidFill>
                <a:latin typeface="Calibri"/>
              </a:rPr>
              <a:t>118 automated tests · All passing · Comprehensive coverage</a:t>
            </a:r>
          </a:p>
        </p:txBody>
      </p:sp>
      <p:sp>
        <p:nvSpPr>
          <p:cNvPr id="5" name="TextBox 4"/>
          <p:cNvSpPr txBox="1"/>
          <p:nvPr/>
        </p:nvSpPr>
        <p:spPr>
          <a:xfrm>
            <a:off x="457200" y="6400800"/>
            <a:ext cx="7772400" cy="320040"/>
          </a:xfrm>
          <a:prstGeom prst="rect">
            <a:avLst/>
          </a:prstGeom>
          <a:noFill/>
        </p:spPr>
        <p:txBody>
          <a:bodyPr wrap="square">
            <a:spAutoFit/>
          </a:bodyPr>
          <a:lstStyle/>
          <a:p>
            <a:pPr>
              <a:defRPr sz="800">
                <a:solidFill>
                  <a:srgbClr val="7E7684"/>
                </a:solidFill>
                <a:latin typeface="Calibri"/>
              </a:defRPr>
            </a:pPr>
            <a:r>
              <a:t>ReconcileOS — Continuous Integrity Platform  |  Slide 13</a:t>
            </a:r>
          </a:p>
        </p:txBody>
      </p:sp>
      <p:sp>
        <p:nvSpPr>
          <p:cNvPr id="6" name="Rectangle 5"/>
          <p:cNvSpPr/>
          <p:nvPr/>
        </p:nvSpPr>
        <p:spPr>
          <a:xfrm>
            <a:off x="457200" y="6327648"/>
            <a:ext cx="8229600" cy="19050"/>
          </a:xfrm>
          <a:prstGeom prst="rect">
            <a:avLst/>
          </a:prstGeom>
          <a:solidFill>
            <a:srgbClr val="DED5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7200" y="1234440"/>
            <a:ext cx="3657600" cy="1097280"/>
          </a:xfrm>
          <a:prstGeom prst="roundRect">
            <a:avLst>
              <a:gd name="adj" fmla="val 5000"/>
            </a:avLst>
          </a:prstGeom>
          <a:solidFill>
            <a:srgbClr val="FFFDF9"/>
          </a:solidFill>
          <a:ln w="12700">
            <a:solidFill>
              <a:srgbClr val="2BAE7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i="0">
                <a:solidFill>
                  <a:srgbClr val="2BAE7B"/>
                </a:solidFill>
                <a:latin typeface="Calibri"/>
              </a:rPr>
              <a:t>118 / 118</a:t>
            </a:r>
          </a:p>
          <a:p>
            <a:r>
              <a:rPr sz="1200" b="0" i="0">
                <a:solidFill>
                  <a:srgbClr val="332F3A"/>
                </a:solidFill>
                <a:latin typeface="Calibri"/>
              </a:rPr>
              <a:t>Tests Passed — 0 Failures — 14.2s execution</a:t>
            </a:r>
          </a:p>
        </p:txBody>
      </p:sp>
      <p:sp>
        <p:nvSpPr>
          <p:cNvPr id="8" name="TextBox 7"/>
          <p:cNvSpPr txBox="1"/>
          <p:nvPr/>
        </p:nvSpPr>
        <p:spPr>
          <a:xfrm>
            <a:off x="548640" y="2606040"/>
            <a:ext cx="2377440" cy="256032"/>
          </a:xfrm>
          <a:prstGeom prst="rect">
            <a:avLst/>
          </a:prstGeom>
          <a:noFill/>
        </p:spPr>
        <p:txBody>
          <a:bodyPr wrap="square">
            <a:spAutoFit/>
          </a:bodyPr>
          <a:lstStyle/>
          <a:p>
            <a:pPr algn="l"/>
            <a:r>
              <a:rPr sz="800" b="0" i="0">
                <a:solidFill>
                  <a:srgbClr val="332F3A"/>
                </a:solidFill>
                <a:latin typeface="Calibri"/>
              </a:rPr>
              <a:t>apps.employees.tests</a:t>
            </a:r>
          </a:p>
        </p:txBody>
      </p:sp>
      <p:sp>
        <p:nvSpPr>
          <p:cNvPr id="9" name="TextBox 8"/>
          <p:cNvSpPr txBox="1"/>
          <p:nvPr/>
        </p:nvSpPr>
        <p:spPr>
          <a:xfrm>
            <a:off x="3017520" y="2606040"/>
            <a:ext cx="365760" cy="256032"/>
          </a:xfrm>
          <a:prstGeom prst="rect">
            <a:avLst/>
          </a:prstGeom>
          <a:noFill/>
        </p:spPr>
        <p:txBody>
          <a:bodyPr wrap="square">
            <a:spAutoFit/>
          </a:bodyPr>
          <a:lstStyle/>
          <a:p>
            <a:pPr algn="ctr"/>
            <a:r>
              <a:rPr sz="900" b="1" i="0">
                <a:solidFill>
                  <a:srgbClr val="7865A5"/>
                </a:solidFill>
                <a:latin typeface="Calibri"/>
              </a:rPr>
              <a:t>13</a:t>
            </a:r>
          </a:p>
        </p:txBody>
      </p:sp>
      <p:sp>
        <p:nvSpPr>
          <p:cNvPr id="10" name="TextBox 9"/>
          <p:cNvSpPr txBox="1"/>
          <p:nvPr/>
        </p:nvSpPr>
        <p:spPr>
          <a:xfrm>
            <a:off x="3474720" y="2606040"/>
            <a:ext cx="5029200" cy="256032"/>
          </a:xfrm>
          <a:prstGeom prst="rect">
            <a:avLst/>
          </a:prstGeom>
          <a:noFill/>
        </p:spPr>
        <p:txBody>
          <a:bodyPr wrap="square">
            <a:spAutoFit/>
          </a:bodyPr>
          <a:lstStyle/>
          <a:p>
            <a:pPr algn="l"/>
            <a:r>
              <a:rPr sz="800" b="0" i="0">
                <a:solidFill>
                  <a:srgbClr val="595260"/>
                </a:solidFill>
                <a:latin typeface="Calibri"/>
              </a:rPr>
              <a:t>Employee CRUD, termination, validation, filtering</a:t>
            </a:r>
          </a:p>
        </p:txBody>
      </p:sp>
      <p:sp>
        <p:nvSpPr>
          <p:cNvPr id="11" name="TextBox 10"/>
          <p:cNvSpPr txBox="1"/>
          <p:nvPr/>
        </p:nvSpPr>
        <p:spPr>
          <a:xfrm>
            <a:off x="548640" y="2880360"/>
            <a:ext cx="2377440" cy="256032"/>
          </a:xfrm>
          <a:prstGeom prst="rect">
            <a:avLst/>
          </a:prstGeom>
          <a:noFill/>
        </p:spPr>
        <p:txBody>
          <a:bodyPr wrap="square">
            <a:spAutoFit/>
          </a:bodyPr>
          <a:lstStyle/>
          <a:p>
            <a:pPr algn="l"/>
            <a:r>
              <a:rPr sz="800" b="0" i="0">
                <a:solidFill>
                  <a:srgbClr val="332F3A"/>
                </a:solidFill>
                <a:latin typeface="Calibri"/>
              </a:rPr>
              <a:t>apps.connectors.tests</a:t>
            </a:r>
          </a:p>
        </p:txBody>
      </p:sp>
      <p:sp>
        <p:nvSpPr>
          <p:cNvPr id="12" name="TextBox 11"/>
          <p:cNvSpPr txBox="1"/>
          <p:nvPr/>
        </p:nvSpPr>
        <p:spPr>
          <a:xfrm>
            <a:off x="3017520" y="2880360"/>
            <a:ext cx="365760" cy="256032"/>
          </a:xfrm>
          <a:prstGeom prst="rect">
            <a:avLst/>
          </a:prstGeom>
          <a:noFill/>
        </p:spPr>
        <p:txBody>
          <a:bodyPr wrap="square">
            <a:spAutoFit/>
          </a:bodyPr>
          <a:lstStyle/>
          <a:p>
            <a:pPr algn="ctr"/>
            <a:r>
              <a:rPr sz="900" b="1" i="0">
                <a:solidFill>
                  <a:srgbClr val="7865A5"/>
                </a:solidFill>
                <a:latin typeface="Calibri"/>
              </a:rPr>
              <a:t>15</a:t>
            </a:r>
          </a:p>
        </p:txBody>
      </p:sp>
      <p:sp>
        <p:nvSpPr>
          <p:cNvPr id="13" name="TextBox 12"/>
          <p:cNvSpPr txBox="1"/>
          <p:nvPr/>
        </p:nvSpPr>
        <p:spPr>
          <a:xfrm>
            <a:off x="3474720" y="2880360"/>
            <a:ext cx="5029200" cy="256032"/>
          </a:xfrm>
          <a:prstGeom prst="rect">
            <a:avLst/>
          </a:prstGeom>
          <a:noFill/>
        </p:spPr>
        <p:txBody>
          <a:bodyPr wrap="square">
            <a:spAutoFit/>
          </a:bodyPr>
          <a:lstStyle/>
          <a:p>
            <a:pPr algn="l"/>
            <a:r>
              <a:rPr sz="800" b="0" i="0">
                <a:solidFill>
                  <a:srgbClr val="595260"/>
                </a:solidFill>
                <a:latin typeface="Calibri"/>
              </a:rPr>
              <a:t>VPN access, enable/disable, auto-init, Zero-Trust default</a:t>
            </a:r>
          </a:p>
        </p:txBody>
      </p:sp>
      <p:sp>
        <p:nvSpPr>
          <p:cNvPr id="14" name="TextBox 13"/>
          <p:cNvSpPr txBox="1"/>
          <p:nvPr/>
        </p:nvSpPr>
        <p:spPr>
          <a:xfrm>
            <a:off x="548640" y="3154680"/>
            <a:ext cx="2377440" cy="256032"/>
          </a:xfrm>
          <a:prstGeom prst="rect">
            <a:avLst/>
          </a:prstGeom>
          <a:noFill/>
        </p:spPr>
        <p:txBody>
          <a:bodyPr wrap="square">
            <a:spAutoFit/>
          </a:bodyPr>
          <a:lstStyle/>
          <a:p>
            <a:pPr algn="l"/>
            <a:r>
              <a:rPr sz="800" b="0" i="0">
                <a:solidFill>
                  <a:srgbClr val="332F3A"/>
                </a:solidFill>
                <a:latin typeface="Calibri"/>
              </a:rPr>
              <a:t>apps.rules.tests</a:t>
            </a:r>
          </a:p>
        </p:txBody>
      </p:sp>
      <p:sp>
        <p:nvSpPr>
          <p:cNvPr id="15" name="TextBox 14"/>
          <p:cNvSpPr txBox="1"/>
          <p:nvPr/>
        </p:nvSpPr>
        <p:spPr>
          <a:xfrm>
            <a:off x="3017520" y="3154680"/>
            <a:ext cx="365760" cy="256032"/>
          </a:xfrm>
          <a:prstGeom prst="rect">
            <a:avLst/>
          </a:prstGeom>
          <a:noFill/>
        </p:spPr>
        <p:txBody>
          <a:bodyPr wrap="square">
            <a:spAutoFit/>
          </a:bodyPr>
          <a:lstStyle/>
          <a:p>
            <a:pPr algn="ctr"/>
            <a:r>
              <a:rPr sz="900" b="1" i="0">
                <a:solidFill>
                  <a:srgbClr val="7865A5"/>
                </a:solidFill>
                <a:latin typeface="Calibri"/>
              </a:rPr>
              <a:t>7</a:t>
            </a:r>
          </a:p>
        </p:txBody>
      </p:sp>
      <p:sp>
        <p:nvSpPr>
          <p:cNvPr id="16" name="TextBox 15"/>
          <p:cNvSpPr txBox="1"/>
          <p:nvPr/>
        </p:nvSpPr>
        <p:spPr>
          <a:xfrm>
            <a:off x="3474720" y="3154680"/>
            <a:ext cx="5029200" cy="256032"/>
          </a:xfrm>
          <a:prstGeom prst="rect">
            <a:avLst/>
          </a:prstGeom>
          <a:noFill/>
        </p:spPr>
        <p:txBody>
          <a:bodyPr wrap="square">
            <a:spAutoFit/>
          </a:bodyPr>
          <a:lstStyle/>
          <a:p>
            <a:pPr algn="l"/>
            <a:r>
              <a:rPr sz="800" b="0" i="0">
                <a:solidFill>
                  <a:srgbClr val="595260"/>
                </a:solidFill>
                <a:latin typeface="Calibri"/>
              </a:rPr>
              <a:t>Rule CRUD, toggle, drift evaluation helpers</a:t>
            </a:r>
          </a:p>
        </p:txBody>
      </p:sp>
      <p:sp>
        <p:nvSpPr>
          <p:cNvPr id="17" name="TextBox 16"/>
          <p:cNvSpPr txBox="1"/>
          <p:nvPr/>
        </p:nvSpPr>
        <p:spPr>
          <a:xfrm>
            <a:off x="548640" y="3429000"/>
            <a:ext cx="2377440" cy="256032"/>
          </a:xfrm>
          <a:prstGeom prst="rect">
            <a:avLst/>
          </a:prstGeom>
          <a:noFill/>
        </p:spPr>
        <p:txBody>
          <a:bodyPr wrap="square">
            <a:spAutoFit/>
          </a:bodyPr>
          <a:lstStyle/>
          <a:p>
            <a:pPr algn="l"/>
            <a:r>
              <a:rPr sz="800" b="0" i="0">
                <a:solidFill>
                  <a:srgbClr val="332F3A"/>
                </a:solidFill>
                <a:latin typeface="Calibri"/>
              </a:rPr>
              <a:t>apps.reconciliation.tests</a:t>
            </a:r>
          </a:p>
        </p:txBody>
      </p:sp>
      <p:sp>
        <p:nvSpPr>
          <p:cNvPr id="18" name="TextBox 17"/>
          <p:cNvSpPr txBox="1"/>
          <p:nvPr/>
        </p:nvSpPr>
        <p:spPr>
          <a:xfrm>
            <a:off x="3017520" y="3429000"/>
            <a:ext cx="365760" cy="256032"/>
          </a:xfrm>
          <a:prstGeom prst="rect">
            <a:avLst/>
          </a:prstGeom>
          <a:noFill/>
        </p:spPr>
        <p:txBody>
          <a:bodyPr wrap="square">
            <a:spAutoFit/>
          </a:bodyPr>
          <a:lstStyle/>
          <a:p>
            <a:pPr algn="ctr"/>
            <a:r>
              <a:rPr sz="900" b="1" i="0">
                <a:solidFill>
                  <a:srgbClr val="7865A5"/>
                </a:solidFill>
                <a:latin typeface="Calibri"/>
              </a:rPr>
              <a:t>8</a:t>
            </a:r>
          </a:p>
        </p:txBody>
      </p:sp>
      <p:sp>
        <p:nvSpPr>
          <p:cNvPr id="19" name="TextBox 18"/>
          <p:cNvSpPr txBox="1"/>
          <p:nvPr/>
        </p:nvSpPr>
        <p:spPr>
          <a:xfrm>
            <a:off x="3474720" y="3429000"/>
            <a:ext cx="5029200" cy="256032"/>
          </a:xfrm>
          <a:prstGeom prst="rect">
            <a:avLst/>
          </a:prstGeom>
          <a:noFill/>
        </p:spPr>
        <p:txBody>
          <a:bodyPr wrap="square">
            <a:spAutoFit/>
          </a:bodyPr>
          <a:lstStyle/>
          <a:p>
            <a:pPr algn="l"/>
            <a:r>
              <a:rPr sz="800" b="0" i="0">
                <a:solidFill>
                  <a:srgbClr val="595260"/>
                </a:solidFill>
                <a:latin typeface="Calibri"/>
              </a:rPr>
              <a:t>State collection, drift detection, deduplication</a:t>
            </a:r>
          </a:p>
        </p:txBody>
      </p:sp>
      <p:sp>
        <p:nvSpPr>
          <p:cNvPr id="20" name="TextBox 19"/>
          <p:cNvSpPr txBox="1"/>
          <p:nvPr/>
        </p:nvSpPr>
        <p:spPr>
          <a:xfrm>
            <a:off x="548640" y="3703320"/>
            <a:ext cx="2377440" cy="256032"/>
          </a:xfrm>
          <a:prstGeom prst="rect">
            <a:avLst/>
          </a:prstGeom>
          <a:noFill/>
        </p:spPr>
        <p:txBody>
          <a:bodyPr wrap="square">
            <a:spAutoFit/>
          </a:bodyPr>
          <a:lstStyle/>
          <a:p>
            <a:pPr algn="l"/>
            <a:r>
              <a:rPr sz="800" b="0" i="0">
                <a:solidFill>
                  <a:srgbClr val="332F3A"/>
                </a:solidFill>
                <a:latin typeface="Calibri"/>
              </a:rPr>
              <a:t>apps.workflows.tests</a:t>
            </a:r>
          </a:p>
        </p:txBody>
      </p:sp>
      <p:sp>
        <p:nvSpPr>
          <p:cNvPr id="21" name="TextBox 20"/>
          <p:cNvSpPr txBox="1"/>
          <p:nvPr/>
        </p:nvSpPr>
        <p:spPr>
          <a:xfrm>
            <a:off x="3017520" y="3703320"/>
            <a:ext cx="365760" cy="256032"/>
          </a:xfrm>
          <a:prstGeom prst="rect">
            <a:avLst/>
          </a:prstGeom>
          <a:noFill/>
        </p:spPr>
        <p:txBody>
          <a:bodyPr wrap="square">
            <a:spAutoFit/>
          </a:bodyPr>
          <a:lstStyle/>
          <a:p>
            <a:pPr algn="ctr"/>
            <a:r>
              <a:rPr sz="900" b="1" i="0">
                <a:solidFill>
                  <a:srgbClr val="7865A5"/>
                </a:solidFill>
                <a:latin typeface="Calibri"/>
              </a:rPr>
              <a:t>7</a:t>
            </a:r>
          </a:p>
        </p:txBody>
      </p:sp>
      <p:sp>
        <p:nvSpPr>
          <p:cNvPr id="22" name="TextBox 21"/>
          <p:cNvSpPr txBox="1"/>
          <p:nvPr/>
        </p:nvSpPr>
        <p:spPr>
          <a:xfrm>
            <a:off x="3474720" y="3703320"/>
            <a:ext cx="5029200" cy="256032"/>
          </a:xfrm>
          <a:prstGeom prst="rect">
            <a:avLst/>
          </a:prstGeom>
          <a:noFill/>
        </p:spPr>
        <p:txBody>
          <a:bodyPr wrap="square">
            <a:spAutoFit/>
          </a:bodyPr>
          <a:lstStyle/>
          <a:p>
            <a:pPr algn="l"/>
            <a:r>
              <a:rPr sz="800" b="0" i="0">
                <a:solidFill>
                  <a:srgbClr val="595260"/>
                </a:solidFill>
                <a:latin typeface="Calibri"/>
              </a:rPr>
              <a:t>Repair planning, plan generation, status lifecycle</a:t>
            </a:r>
          </a:p>
        </p:txBody>
      </p:sp>
      <p:sp>
        <p:nvSpPr>
          <p:cNvPr id="23" name="TextBox 22"/>
          <p:cNvSpPr txBox="1"/>
          <p:nvPr/>
        </p:nvSpPr>
        <p:spPr>
          <a:xfrm>
            <a:off x="548640" y="3977639"/>
            <a:ext cx="2377440" cy="256032"/>
          </a:xfrm>
          <a:prstGeom prst="rect">
            <a:avLst/>
          </a:prstGeom>
          <a:noFill/>
        </p:spPr>
        <p:txBody>
          <a:bodyPr wrap="square">
            <a:spAutoFit/>
          </a:bodyPr>
          <a:lstStyle/>
          <a:p>
            <a:pPr algn="l"/>
            <a:r>
              <a:rPr sz="800" b="0" i="0">
                <a:solidFill>
                  <a:srgbClr val="332F3A"/>
                </a:solidFill>
                <a:latin typeface="Calibri"/>
              </a:rPr>
              <a:t>apps.workflows.test_execution</a:t>
            </a:r>
          </a:p>
        </p:txBody>
      </p:sp>
      <p:sp>
        <p:nvSpPr>
          <p:cNvPr id="24" name="TextBox 23"/>
          <p:cNvSpPr txBox="1"/>
          <p:nvPr/>
        </p:nvSpPr>
        <p:spPr>
          <a:xfrm>
            <a:off x="3017520" y="3977639"/>
            <a:ext cx="365760" cy="256032"/>
          </a:xfrm>
          <a:prstGeom prst="rect">
            <a:avLst/>
          </a:prstGeom>
          <a:noFill/>
        </p:spPr>
        <p:txBody>
          <a:bodyPr wrap="square">
            <a:spAutoFit/>
          </a:bodyPr>
          <a:lstStyle/>
          <a:p>
            <a:pPr algn="ctr"/>
            <a:r>
              <a:rPr sz="900" b="1" i="0">
                <a:solidFill>
                  <a:srgbClr val="7865A5"/>
                </a:solidFill>
                <a:latin typeface="Calibri"/>
              </a:rPr>
              <a:t>10</a:t>
            </a:r>
          </a:p>
        </p:txBody>
      </p:sp>
      <p:sp>
        <p:nvSpPr>
          <p:cNvPr id="25" name="TextBox 24"/>
          <p:cNvSpPr txBox="1"/>
          <p:nvPr/>
        </p:nvSpPr>
        <p:spPr>
          <a:xfrm>
            <a:off x="3474720" y="3977639"/>
            <a:ext cx="5029200" cy="256032"/>
          </a:xfrm>
          <a:prstGeom prst="rect">
            <a:avLst/>
          </a:prstGeom>
          <a:noFill/>
        </p:spPr>
        <p:txBody>
          <a:bodyPr wrap="square">
            <a:spAutoFit/>
          </a:bodyPr>
          <a:lstStyle/>
          <a:p>
            <a:pPr algn="l"/>
            <a:r>
              <a:rPr sz="800" b="0" i="0">
                <a:solidFill>
                  <a:srgbClr val="595260"/>
                </a:solidFill>
                <a:latin typeface="Calibri"/>
              </a:rPr>
              <a:t>Repair execution, connector integration, idempotency</a:t>
            </a:r>
          </a:p>
        </p:txBody>
      </p:sp>
      <p:sp>
        <p:nvSpPr>
          <p:cNvPr id="26" name="TextBox 25"/>
          <p:cNvSpPr txBox="1"/>
          <p:nvPr/>
        </p:nvSpPr>
        <p:spPr>
          <a:xfrm>
            <a:off x="548640" y="4251960"/>
            <a:ext cx="2377440" cy="256032"/>
          </a:xfrm>
          <a:prstGeom prst="rect">
            <a:avLst/>
          </a:prstGeom>
          <a:noFill/>
        </p:spPr>
        <p:txBody>
          <a:bodyPr wrap="square">
            <a:spAutoFit/>
          </a:bodyPr>
          <a:lstStyle/>
          <a:p>
            <a:pPr algn="l"/>
            <a:r>
              <a:rPr sz="800" b="0" i="0">
                <a:solidFill>
                  <a:srgbClr val="332F3A"/>
                </a:solidFill>
                <a:latin typeface="Calibri"/>
              </a:rPr>
              <a:t>apps.workflows.test_idempotency</a:t>
            </a:r>
          </a:p>
        </p:txBody>
      </p:sp>
      <p:sp>
        <p:nvSpPr>
          <p:cNvPr id="27" name="TextBox 26"/>
          <p:cNvSpPr txBox="1"/>
          <p:nvPr/>
        </p:nvSpPr>
        <p:spPr>
          <a:xfrm>
            <a:off x="3017520" y="4251960"/>
            <a:ext cx="365760" cy="256032"/>
          </a:xfrm>
          <a:prstGeom prst="rect">
            <a:avLst/>
          </a:prstGeom>
          <a:noFill/>
        </p:spPr>
        <p:txBody>
          <a:bodyPr wrap="square">
            <a:spAutoFit/>
          </a:bodyPr>
          <a:lstStyle/>
          <a:p>
            <a:pPr algn="ctr"/>
            <a:r>
              <a:rPr sz="900" b="1" i="0">
                <a:solidFill>
                  <a:srgbClr val="7865A5"/>
                </a:solidFill>
                <a:latin typeface="Calibri"/>
              </a:rPr>
              <a:t>10</a:t>
            </a:r>
          </a:p>
        </p:txBody>
      </p:sp>
      <p:sp>
        <p:nvSpPr>
          <p:cNvPr id="28" name="TextBox 27"/>
          <p:cNvSpPr txBox="1"/>
          <p:nvPr/>
        </p:nvSpPr>
        <p:spPr>
          <a:xfrm>
            <a:off x="3474720" y="4251960"/>
            <a:ext cx="5029200" cy="256032"/>
          </a:xfrm>
          <a:prstGeom prst="rect">
            <a:avLst/>
          </a:prstGeom>
          <a:noFill/>
        </p:spPr>
        <p:txBody>
          <a:bodyPr wrap="square">
            <a:spAutoFit/>
          </a:bodyPr>
          <a:lstStyle/>
          <a:p>
            <a:pPr algn="l"/>
            <a:r>
              <a:rPr sz="800" b="0" i="0">
                <a:solidFill>
                  <a:srgbClr val="595260"/>
                </a:solidFill>
                <a:latin typeface="Calibri"/>
              </a:rPr>
              <a:t>Pre-satisfied checks, duplicate execution guards</a:t>
            </a:r>
          </a:p>
        </p:txBody>
      </p:sp>
      <p:sp>
        <p:nvSpPr>
          <p:cNvPr id="29" name="TextBox 28"/>
          <p:cNvSpPr txBox="1"/>
          <p:nvPr/>
        </p:nvSpPr>
        <p:spPr>
          <a:xfrm>
            <a:off x="548640" y="4526280"/>
            <a:ext cx="2377440" cy="256032"/>
          </a:xfrm>
          <a:prstGeom prst="rect">
            <a:avLst/>
          </a:prstGeom>
          <a:noFill/>
        </p:spPr>
        <p:txBody>
          <a:bodyPr wrap="square">
            <a:spAutoFit/>
          </a:bodyPr>
          <a:lstStyle/>
          <a:p>
            <a:pPr algn="l"/>
            <a:r>
              <a:rPr sz="800" b="0" i="0">
                <a:solidFill>
                  <a:srgbClr val="332F3A"/>
                </a:solidFill>
                <a:latin typeface="Calibri"/>
              </a:rPr>
              <a:t>apps.workflows.test_retry_recovery</a:t>
            </a:r>
          </a:p>
        </p:txBody>
      </p:sp>
      <p:sp>
        <p:nvSpPr>
          <p:cNvPr id="30" name="TextBox 29"/>
          <p:cNvSpPr txBox="1"/>
          <p:nvPr/>
        </p:nvSpPr>
        <p:spPr>
          <a:xfrm>
            <a:off x="3017520" y="4526280"/>
            <a:ext cx="365760" cy="256032"/>
          </a:xfrm>
          <a:prstGeom prst="rect">
            <a:avLst/>
          </a:prstGeom>
          <a:noFill/>
        </p:spPr>
        <p:txBody>
          <a:bodyPr wrap="square">
            <a:spAutoFit/>
          </a:bodyPr>
          <a:lstStyle/>
          <a:p>
            <a:pPr algn="ctr"/>
            <a:r>
              <a:rPr sz="900" b="1" i="0">
                <a:solidFill>
                  <a:srgbClr val="7865A5"/>
                </a:solidFill>
                <a:latin typeface="Calibri"/>
              </a:rPr>
              <a:t>9</a:t>
            </a:r>
          </a:p>
        </p:txBody>
      </p:sp>
      <p:sp>
        <p:nvSpPr>
          <p:cNvPr id="31" name="TextBox 30"/>
          <p:cNvSpPr txBox="1"/>
          <p:nvPr/>
        </p:nvSpPr>
        <p:spPr>
          <a:xfrm>
            <a:off x="3474720" y="4526280"/>
            <a:ext cx="5029200" cy="256032"/>
          </a:xfrm>
          <a:prstGeom prst="rect">
            <a:avLst/>
          </a:prstGeom>
          <a:noFill/>
        </p:spPr>
        <p:txBody>
          <a:bodyPr wrap="square">
            <a:spAutoFit/>
          </a:bodyPr>
          <a:lstStyle/>
          <a:p>
            <a:pPr algn="l"/>
            <a:r>
              <a:rPr sz="800" b="0" i="0">
                <a:solidFill>
                  <a:srgbClr val="595260"/>
                </a:solidFill>
                <a:latin typeface="Calibri"/>
              </a:rPr>
              <a:t>Retry mechanics, failure recovery, max attempts</a:t>
            </a:r>
          </a:p>
        </p:txBody>
      </p:sp>
      <p:sp>
        <p:nvSpPr>
          <p:cNvPr id="32" name="TextBox 31"/>
          <p:cNvSpPr txBox="1"/>
          <p:nvPr/>
        </p:nvSpPr>
        <p:spPr>
          <a:xfrm>
            <a:off x="548640" y="4800600"/>
            <a:ext cx="2377440" cy="256032"/>
          </a:xfrm>
          <a:prstGeom prst="rect">
            <a:avLst/>
          </a:prstGeom>
          <a:noFill/>
        </p:spPr>
        <p:txBody>
          <a:bodyPr wrap="square">
            <a:spAutoFit/>
          </a:bodyPr>
          <a:lstStyle/>
          <a:p>
            <a:pPr algn="l"/>
            <a:r>
              <a:rPr sz="800" b="0" i="0">
                <a:solidFill>
                  <a:srgbClr val="332F3A"/>
                </a:solidFill>
                <a:latin typeface="Calibri"/>
              </a:rPr>
              <a:t>apps.workflows.test_verification</a:t>
            </a:r>
          </a:p>
        </p:txBody>
      </p:sp>
      <p:sp>
        <p:nvSpPr>
          <p:cNvPr id="33" name="TextBox 32"/>
          <p:cNvSpPr txBox="1"/>
          <p:nvPr/>
        </p:nvSpPr>
        <p:spPr>
          <a:xfrm>
            <a:off x="3017520" y="4800600"/>
            <a:ext cx="365760" cy="256032"/>
          </a:xfrm>
          <a:prstGeom prst="rect">
            <a:avLst/>
          </a:prstGeom>
          <a:noFill/>
        </p:spPr>
        <p:txBody>
          <a:bodyPr wrap="square">
            <a:spAutoFit/>
          </a:bodyPr>
          <a:lstStyle/>
          <a:p>
            <a:pPr algn="ctr"/>
            <a:r>
              <a:rPr sz="900" b="1" i="0">
                <a:solidFill>
                  <a:srgbClr val="7865A5"/>
                </a:solidFill>
                <a:latin typeface="Calibri"/>
              </a:rPr>
              <a:t>14</a:t>
            </a:r>
          </a:p>
        </p:txBody>
      </p:sp>
      <p:sp>
        <p:nvSpPr>
          <p:cNvPr id="34" name="TextBox 33"/>
          <p:cNvSpPr txBox="1"/>
          <p:nvPr/>
        </p:nvSpPr>
        <p:spPr>
          <a:xfrm>
            <a:off x="3474720" y="4800600"/>
            <a:ext cx="5029200" cy="256032"/>
          </a:xfrm>
          <a:prstGeom prst="rect">
            <a:avLst/>
          </a:prstGeom>
          <a:noFill/>
        </p:spPr>
        <p:txBody>
          <a:bodyPr wrap="square">
            <a:spAutoFit/>
          </a:bodyPr>
          <a:lstStyle/>
          <a:p>
            <a:pPr algn="l"/>
            <a:r>
              <a:rPr sz="800" b="0" i="0">
                <a:solidFill>
                  <a:srgbClr val="595260"/>
                </a:solidFill>
                <a:latin typeface="Calibri"/>
              </a:rPr>
              <a:t>Post-repair verification, E2E lifecycle test</a:t>
            </a:r>
          </a:p>
        </p:txBody>
      </p:sp>
      <p:sp>
        <p:nvSpPr>
          <p:cNvPr id="35" name="TextBox 34"/>
          <p:cNvSpPr txBox="1"/>
          <p:nvPr/>
        </p:nvSpPr>
        <p:spPr>
          <a:xfrm>
            <a:off x="548640" y="5074920"/>
            <a:ext cx="2377440" cy="256032"/>
          </a:xfrm>
          <a:prstGeom prst="rect">
            <a:avLst/>
          </a:prstGeom>
          <a:noFill/>
        </p:spPr>
        <p:txBody>
          <a:bodyPr wrap="square">
            <a:spAutoFit/>
          </a:bodyPr>
          <a:lstStyle/>
          <a:p>
            <a:pPr algn="l"/>
            <a:r>
              <a:rPr sz="800" b="0" i="0">
                <a:solidFill>
                  <a:srgbClr val="332F3A"/>
                </a:solidFill>
                <a:latin typeface="Calibri"/>
              </a:rPr>
              <a:t>apps.approvals.tests</a:t>
            </a:r>
          </a:p>
        </p:txBody>
      </p:sp>
      <p:sp>
        <p:nvSpPr>
          <p:cNvPr id="36" name="TextBox 35"/>
          <p:cNvSpPr txBox="1"/>
          <p:nvPr/>
        </p:nvSpPr>
        <p:spPr>
          <a:xfrm>
            <a:off x="3017520" y="5074920"/>
            <a:ext cx="365760" cy="256032"/>
          </a:xfrm>
          <a:prstGeom prst="rect">
            <a:avLst/>
          </a:prstGeom>
          <a:noFill/>
        </p:spPr>
        <p:txBody>
          <a:bodyPr wrap="square">
            <a:spAutoFit/>
          </a:bodyPr>
          <a:lstStyle/>
          <a:p>
            <a:pPr algn="ctr"/>
            <a:r>
              <a:rPr sz="900" b="1" i="0">
                <a:solidFill>
                  <a:srgbClr val="7865A5"/>
                </a:solidFill>
                <a:latin typeface="Calibri"/>
              </a:rPr>
              <a:t>6</a:t>
            </a:r>
          </a:p>
        </p:txBody>
      </p:sp>
      <p:sp>
        <p:nvSpPr>
          <p:cNvPr id="37" name="TextBox 36"/>
          <p:cNvSpPr txBox="1"/>
          <p:nvPr/>
        </p:nvSpPr>
        <p:spPr>
          <a:xfrm>
            <a:off x="3474720" y="5074920"/>
            <a:ext cx="5029200" cy="256032"/>
          </a:xfrm>
          <a:prstGeom prst="rect">
            <a:avLst/>
          </a:prstGeom>
          <a:noFill/>
        </p:spPr>
        <p:txBody>
          <a:bodyPr wrap="square">
            <a:spAutoFit/>
          </a:bodyPr>
          <a:lstStyle/>
          <a:p>
            <a:pPr algn="l"/>
            <a:r>
              <a:rPr sz="800" b="0" i="0">
                <a:solidFill>
                  <a:srgbClr val="595260"/>
                </a:solidFill>
                <a:latin typeface="Calibri"/>
              </a:rPr>
              <a:t>Approval request lifecycle, approve/reject</a:t>
            </a:r>
          </a:p>
        </p:txBody>
      </p:sp>
      <p:sp>
        <p:nvSpPr>
          <p:cNvPr id="38" name="TextBox 37"/>
          <p:cNvSpPr txBox="1"/>
          <p:nvPr/>
        </p:nvSpPr>
        <p:spPr>
          <a:xfrm>
            <a:off x="548640" y="5349240"/>
            <a:ext cx="2377440" cy="256032"/>
          </a:xfrm>
          <a:prstGeom prst="rect">
            <a:avLst/>
          </a:prstGeom>
          <a:noFill/>
        </p:spPr>
        <p:txBody>
          <a:bodyPr wrap="square">
            <a:spAutoFit/>
          </a:bodyPr>
          <a:lstStyle/>
          <a:p>
            <a:pPr algn="l"/>
            <a:r>
              <a:rPr sz="800" b="0" i="0">
                <a:solidFill>
                  <a:srgbClr val="332F3A"/>
                </a:solidFill>
                <a:latin typeface="Calibri"/>
              </a:rPr>
              <a:t>apps.audit.tests</a:t>
            </a:r>
          </a:p>
        </p:txBody>
      </p:sp>
      <p:sp>
        <p:nvSpPr>
          <p:cNvPr id="39" name="TextBox 38"/>
          <p:cNvSpPr txBox="1"/>
          <p:nvPr/>
        </p:nvSpPr>
        <p:spPr>
          <a:xfrm>
            <a:off x="3017520" y="5349240"/>
            <a:ext cx="365760" cy="256032"/>
          </a:xfrm>
          <a:prstGeom prst="rect">
            <a:avLst/>
          </a:prstGeom>
          <a:noFill/>
        </p:spPr>
        <p:txBody>
          <a:bodyPr wrap="square">
            <a:spAutoFit/>
          </a:bodyPr>
          <a:lstStyle/>
          <a:p>
            <a:pPr algn="ctr"/>
            <a:r>
              <a:rPr sz="900" b="1" i="0">
                <a:solidFill>
                  <a:srgbClr val="7865A5"/>
                </a:solidFill>
                <a:latin typeface="Calibri"/>
              </a:rPr>
              <a:t>9</a:t>
            </a:r>
          </a:p>
        </p:txBody>
      </p:sp>
      <p:sp>
        <p:nvSpPr>
          <p:cNvPr id="40" name="TextBox 39"/>
          <p:cNvSpPr txBox="1"/>
          <p:nvPr/>
        </p:nvSpPr>
        <p:spPr>
          <a:xfrm>
            <a:off x="3474720" y="5349240"/>
            <a:ext cx="5029200" cy="256032"/>
          </a:xfrm>
          <a:prstGeom prst="rect">
            <a:avLst/>
          </a:prstGeom>
          <a:noFill/>
        </p:spPr>
        <p:txBody>
          <a:bodyPr wrap="square">
            <a:spAutoFit/>
          </a:bodyPr>
          <a:lstStyle/>
          <a:p>
            <a:pPr algn="l"/>
            <a:r>
              <a:rPr sz="800" b="0" i="0">
                <a:solidFill>
                  <a:srgbClr val="595260"/>
                </a:solidFill>
                <a:latin typeface="Calibri"/>
              </a:rPr>
              <a:t>Audit logging, SHA-256 chain, immutability enforcement</a:t>
            </a:r>
          </a:p>
        </p:txBody>
      </p:sp>
      <p:sp>
        <p:nvSpPr>
          <p:cNvPr id="41" name="TextBox 40"/>
          <p:cNvSpPr txBox="1"/>
          <p:nvPr/>
        </p:nvSpPr>
        <p:spPr>
          <a:xfrm>
            <a:off x="548640" y="5623560"/>
            <a:ext cx="2377440" cy="256032"/>
          </a:xfrm>
          <a:prstGeom prst="rect">
            <a:avLst/>
          </a:prstGeom>
          <a:noFill/>
        </p:spPr>
        <p:txBody>
          <a:bodyPr wrap="square">
            <a:spAutoFit/>
          </a:bodyPr>
          <a:lstStyle/>
          <a:p>
            <a:pPr algn="l"/>
            <a:r>
              <a:rPr sz="800" b="0" i="0">
                <a:solidFill>
                  <a:srgbClr val="332F3A"/>
                </a:solidFill>
                <a:latin typeface="Calibri"/>
              </a:rPr>
              <a:t>apps.accounts + Other</a:t>
            </a:r>
          </a:p>
        </p:txBody>
      </p:sp>
      <p:sp>
        <p:nvSpPr>
          <p:cNvPr id="42" name="TextBox 41"/>
          <p:cNvSpPr txBox="1"/>
          <p:nvPr/>
        </p:nvSpPr>
        <p:spPr>
          <a:xfrm>
            <a:off x="3017520" y="5623560"/>
            <a:ext cx="365760" cy="256032"/>
          </a:xfrm>
          <a:prstGeom prst="rect">
            <a:avLst/>
          </a:prstGeom>
          <a:noFill/>
        </p:spPr>
        <p:txBody>
          <a:bodyPr wrap="square">
            <a:spAutoFit/>
          </a:bodyPr>
          <a:lstStyle/>
          <a:p>
            <a:pPr algn="ctr"/>
            <a:r>
              <a:rPr sz="900" b="1" i="0">
                <a:solidFill>
                  <a:srgbClr val="7865A5"/>
                </a:solidFill>
                <a:latin typeface="Calibri"/>
              </a:rPr>
              <a:t>10</a:t>
            </a:r>
          </a:p>
        </p:txBody>
      </p:sp>
      <p:sp>
        <p:nvSpPr>
          <p:cNvPr id="43" name="TextBox 42"/>
          <p:cNvSpPr txBox="1"/>
          <p:nvPr/>
        </p:nvSpPr>
        <p:spPr>
          <a:xfrm>
            <a:off x="3474720" y="5623560"/>
            <a:ext cx="5029200" cy="256032"/>
          </a:xfrm>
          <a:prstGeom prst="rect">
            <a:avLst/>
          </a:prstGeom>
          <a:noFill/>
        </p:spPr>
        <p:txBody>
          <a:bodyPr wrap="square">
            <a:spAutoFit/>
          </a:bodyPr>
          <a:lstStyle/>
          <a:p>
            <a:pPr algn="l"/>
            <a:r>
              <a:rPr sz="800" b="0" i="0">
                <a:solidFill>
                  <a:srgbClr val="595260"/>
                </a:solidFill>
                <a:latin typeface="Calibri"/>
              </a:rPr>
              <a:t>Auth, JWT endpoints, permissions, edge cases</a:t>
            </a:r>
          </a:p>
        </p:txBody>
      </p:sp>
      <p:sp>
        <p:nvSpPr>
          <p:cNvPr id="44" name="TextBox 43"/>
          <p:cNvSpPr txBox="1"/>
          <p:nvPr/>
        </p:nvSpPr>
        <p:spPr>
          <a:xfrm>
            <a:off x="548640" y="2331720"/>
            <a:ext cx="2377440" cy="256032"/>
          </a:xfrm>
          <a:prstGeom prst="rect">
            <a:avLst/>
          </a:prstGeom>
          <a:noFill/>
        </p:spPr>
        <p:txBody>
          <a:bodyPr wrap="square">
            <a:spAutoFit/>
          </a:bodyPr>
          <a:lstStyle/>
          <a:p>
            <a:pPr algn="l"/>
            <a:r>
              <a:rPr sz="800" b="1" i="0">
                <a:solidFill>
                  <a:srgbClr val="7E7684"/>
                </a:solidFill>
                <a:latin typeface="Calibri"/>
              </a:rPr>
              <a:t>Test Suite</a:t>
            </a:r>
          </a:p>
        </p:txBody>
      </p:sp>
      <p:sp>
        <p:nvSpPr>
          <p:cNvPr id="45" name="TextBox 44"/>
          <p:cNvSpPr txBox="1"/>
          <p:nvPr/>
        </p:nvSpPr>
        <p:spPr>
          <a:xfrm>
            <a:off x="3017520" y="2331720"/>
            <a:ext cx="365760" cy="256032"/>
          </a:xfrm>
          <a:prstGeom prst="rect">
            <a:avLst/>
          </a:prstGeom>
          <a:noFill/>
        </p:spPr>
        <p:txBody>
          <a:bodyPr wrap="square">
            <a:spAutoFit/>
          </a:bodyPr>
          <a:lstStyle/>
          <a:p>
            <a:pPr algn="ctr"/>
            <a:r>
              <a:rPr sz="800" b="1" i="0">
                <a:solidFill>
                  <a:srgbClr val="7E7684"/>
                </a:solidFill>
                <a:latin typeface="Calibri"/>
              </a:rPr>
              <a:t>#</a:t>
            </a:r>
          </a:p>
        </p:txBody>
      </p:sp>
      <p:sp>
        <p:nvSpPr>
          <p:cNvPr id="46" name="TextBox 45"/>
          <p:cNvSpPr txBox="1"/>
          <p:nvPr/>
        </p:nvSpPr>
        <p:spPr>
          <a:xfrm>
            <a:off x="3474720" y="2331720"/>
            <a:ext cx="5029200" cy="256032"/>
          </a:xfrm>
          <a:prstGeom prst="rect">
            <a:avLst/>
          </a:prstGeom>
          <a:noFill/>
        </p:spPr>
        <p:txBody>
          <a:bodyPr wrap="square">
            <a:spAutoFit/>
          </a:bodyPr>
          <a:lstStyle/>
          <a:p>
            <a:pPr algn="l"/>
            <a:r>
              <a:rPr sz="800" b="1" i="0">
                <a:solidFill>
                  <a:srgbClr val="7E7684"/>
                </a:solidFill>
                <a:latin typeface="Calibri"/>
              </a:rPr>
              <a:t>Coverage Area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0E8"/>
        </a:solidFill>
        <a:effectLst/>
      </p:bgPr>
    </p:bg>
    <p:spTree>
      <p:nvGrpSpPr>
        <p:cNvPr id="1" name=""/>
        <p:cNvGrpSpPr/>
        <p:nvPr/>
      </p:nvGrpSpPr>
      <p:grpSpPr>
        <a:xfrm>
          <a:off x="0" y="0"/>
          <a:ext cx="0" cy="0"/>
          <a:chOff x="0" y="0"/>
          <a:chExt cx="0" cy="0"/>
        </a:xfrm>
      </p:grpSpPr>
      <p:sp>
        <p:nvSpPr>
          <p:cNvPr id="2" name="Rectangle 1"/>
          <p:cNvSpPr/>
          <p:nvPr/>
        </p:nvSpPr>
        <p:spPr>
          <a:xfrm>
            <a:off x="457200" y="411480"/>
            <a:ext cx="201168" cy="457200"/>
          </a:xfrm>
          <a:prstGeom prst="rect">
            <a:avLst/>
          </a:prstGeom>
          <a:solidFill>
            <a:srgbClr val="786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320040"/>
            <a:ext cx="7315200" cy="502920"/>
          </a:xfrm>
          <a:prstGeom prst="rect">
            <a:avLst/>
          </a:prstGeom>
          <a:noFill/>
        </p:spPr>
        <p:txBody>
          <a:bodyPr wrap="square">
            <a:spAutoFit/>
          </a:bodyPr>
          <a:lstStyle/>
          <a:p>
            <a:pPr algn="l"/>
            <a:r>
              <a:rPr sz="2200" b="1" i="0">
                <a:solidFill>
                  <a:srgbClr val="332F3A"/>
                </a:solidFill>
                <a:latin typeface="Calibri"/>
              </a:rPr>
              <a:t>Implementation Status &amp; Remaining Work</a:t>
            </a:r>
          </a:p>
        </p:txBody>
      </p:sp>
      <p:sp>
        <p:nvSpPr>
          <p:cNvPr id="4" name="TextBox 3"/>
          <p:cNvSpPr txBox="1"/>
          <p:nvPr/>
        </p:nvSpPr>
        <p:spPr>
          <a:xfrm>
            <a:off x="822960" y="749808"/>
            <a:ext cx="7315200" cy="320040"/>
          </a:xfrm>
          <a:prstGeom prst="rect">
            <a:avLst/>
          </a:prstGeom>
          <a:noFill/>
        </p:spPr>
        <p:txBody>
          <a:bodyPr wrap="square">
            <a:spAutoFit/>
          </a:bodyPr>
          <a:lstStyle/>
          <a:p>
            <a:pPr algn="l"/>
            <a:r>
              <a:rPr sz="1100" b="0" i="0">
                <a:solidFill>
                  <a:srgbClr val="7E7684"/>
                </a:solidFill>
                <a:latin typeface="Calibri"/>
              </a:rPr>
              <a:t>Verified implementation status based on code inspection and test results</a:t>
            </a:r>
          </a:p>
        </p:txBody>
      </p:sp>
      <p:sp>
        <p:nvSpPr>
          <p:cNvPr id="5" name="TextBox 4"/>
          <p:cNvSpPr txBox="1"/>
          <p:nvPr/>
        </p:nvSpPr>
        <p:spPr>
          <a:xfrm>
            <a:off x="457200" y="6400800"/>
            <a:ext cx="7772400" cy="320040"/>
          </a:xfrm>
          <a:prstGeom prst="rect">
            <a:avLst/>
          </a:prstGeom>
          <a:noFill/>
        </p:spPr>
        <p:txBody>
          <a:bodyPr wrap="square">
            <a:spAutoFit/>
          </a:bodyPr>
          <a:lstStyle/>
          <a:p>
            <a:pPr>
              <a:defRPr sz="800">
                <a:solidFill>
                  <a:srgbClr val="7E7684"/>
                </a:solidFill>
                <a:latin typeface="Calibri"/>
              </a:defRPr>
            </a:pPr>
            <a:r>
              <a:t>ReconcileOS — Continuous Integrity Platform  |  Slide 14</a:t>
            </a:r>
          </a:p>
        </p:txBody>
      </p:sp>
      <p:sp>
        <p:nvSpPr>
          <p:cNvPr id="6" name="Rectangle 5"/>
          <p:cNvSpPr/>
          <p:nvPr/>
        </p:nvSpPr>
        <p:spPr>
          <a:xfrm>
            <a:off x="457200" y="6327648"/>
            <a:ext cx="8229600" cy="19050"/>
          </a:xfrm>
          <a:prstGeom prst="rect">
            <a:avLst/>
          </a:prstGeom>
          <a:solidFill>
            <a:srgbClr val="DED5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94360" y="1435608"/>
            <a:ext cx="118872" cy="118872"/>
          </a:xfrm>
          <a:prstGeom prst="ellipse">
            <a:avLst/>
          </a:prstGeom>
          <a:solidFill>
            <a:srgbClr val="2BA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371600"/>
            <a:ext cx="2926080" cy="292608"/>
          </a:xfrm>
          <a:prstGeom prst="rect">
            <a:avLst/>
          </a:prstGeom>
          <a:noFill/>
        </p:spPr>
        <p:txBody>
          <a:bodyPr wrap="square">
            <a:spAutoFit/>
          </a:bodyPr>
          <a:lstStyle/>
          <a:p>
            <a:pPr algn="l"/>
            <a:r>
              <a:rPr sz="1000" b="0" i="0">
                <a:solidFill>
                  <a:srgbClr val="332F3A"/>
                </a:solidFill>
                <a:latin typeface="Calibri"/>
              </a:rPr>
              <a:t>Employee Management (HR)</a:t>
            </a:r>
          </a:p>
        </p:txBody>
      </p:sp>
      <p:sp>
        <p:nvSpPr>
          <p:cNvPr id="9" name="TextBox 8"/>
          <p:cNvSpPr txBox="1"/>
          <p:nvPr/>
        </p:nvSpPr>
        <p:spPr>
          <a:xfrm>
            <a:off x="3840480" y="1371600"/>
            <a:ext cx="2286000" cy="292608"/>
          </a:xfrm>
          <a:prstGeom prst="rect">
            <a:avLst/>
          </a:prstGeom>
          <a:noFill/>
        </p:spPr>
        <p:txBody>
          <a:bodyPr wrap="square">
            <a:spAutoFit/>
          </a:bodyPr>
          <a:lstStyle/>
          <a:p>
            <a:pPr algn="l"/>
            <a:r>
              <a:rPr sz="900" b="1" i="0">
                <a:solidFill>
                  <a:srgbClr val="2BAE7B"/>
                </a:solidFill>
                <a:latin typeface="Calibri"/>
              </a:rPr>
              <a:t>Implemented &amp; Verified</a:t>
            </a:r>
          </a:p>
        </p:txBody>
      </p:sp>
      <p:sp>
        <p:nvSpPr>
          <p:cNvPr id="10" name="TextBox 9"/>
          <p:cNvSpPr txBox="1"/>
          <p:nvPr/>
        </p:nvSpPr>
        <p:spPr>
          <a:xfrm>
            <a:off x="6400800" y="1371600"/>
            <a:ext cx="2286000" cy="292608"/>
          </a:xfrm>
          <a:prstGeom prst="rect">
            <a:avLst/>
          </a:prstGeom>
          <a:noFill/>
        </p:spPr>
        <p:txBody>
          <a:bodyPr wrap="square">
            <a:spAutoFit/>
          </a:bodyPr>
          <a:lstStyle/>
          <a:p>
            <a:pPr algn="l"/>
            <a:r>
              <a:rPr sz="900" b="0" i="0">
                <a:solidFill>
                  <a:srgbClr val="7E7684"/>
                </a:solidFill>
                <a:latin typeface="Calibri"/>
              </a:rPr>
              <a:t>13 tests</a:t>
            </a:r>
          </a:p>
        </p:txBody>
      </p:sp>
      <p:sp>
        <p:nvSpPr>
          <p:cNvPr id="11" name="Oval 10"/>
          <p:cNvSpPr/>
          <p:nvPr/>
        </p:nvSpPr>
        <p:spPr>
          <a:xfrm>
            <a:off x="594360" y="1773936"/>
            <a:ext cx="118872" cy="118872"/>
          </a:xfrm>
          <a:prstGeom prst="ellipse">
            <a:avLst/>
          </a:prstGeom>
          <a:solidFill>
            <a:srgbClr val="2BA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1709928"/>
            <a:ext cx="2926080" cy="292608"/>
          </a:xfrm>
          <a:prstGeom prst="rect">
            <a:avLst/>
          </a:prstGeom>
          <a:noFill/>
        </p:spPr>
        <p:txBody>
          <a:bodyPr wrap="square">
            <a:spAutoFit/>
          </a:bodyPr>
          <a:lstStyle/>
          <a:p>
            <a:pPr algn="l"/>
            <a:r>
              <a:rPr sz="1000" b="0" i="0">
                <a:solidFill>
                  <a:srgbClr val="332F3A"/>
                </a:solidFill>
                <a:latin typeface="Calibri"/>
              </a:rPr>
              <a:t>Simulated VPN Connector</a:t>
            </a:r>
          </a:p>
        </p:txBody>
      </p:sp>
      <p:sp>
        <p:nvSpPr>
          <p:cNvPr id="13" name="TextBox 12"/>
          <p:cNvSpPr txBox="1"/>
          <p:nvPr/>
        </p:nvSpPr>
        <p:spPr>
          <a:xfrm>
            <a:off x="3840480" y="1709928"/>
            <a:ext cx="2286000" cy="292608"/>
          </a:xfrm>
          <a:prstGeom prst="rect">
            <a:avLst/>
          </a:prstGeom>
          <a:noFill/>
        </p:spPr>
        <p:txBody>
          <a:bodyPr wrap="square">
            <a:spAutoFit/>
          </a:bodyPr>
          <a:lstStyle/>
          <a:p>
            <a:pPr algn="l"/>
            <a:r>
              <a:rPr sz="900" b="1" i="0">
                <a:solidFill>
                  <a:srgbClr val="2BAE7B"/>
                </a:solidFill>
                <a:latin typeface="Calibri"/>
              </a:rPr>
              <a:t>Implemented &amp; Verified</a:t>
            </a:r>
          </a:p>
        </p:txBody>
      </p:sp>
      <p:sp>
        <p:nvSpPr>
          <p:cNvPr id="14" name="TextBox 13"/>
          <p:cNvSpPr txBox="1"/>
          <p:nvPr/>
        </p:nvSpPr>
        <p:spPr>
          <a:xfrm>
            <a:off x="6400800" y="1709928"/>
            <a:ext cx="2286000" cy="292608"/>
          </a:xfrm>
          <a:prstGeom prst="rect">
            <a:avLst/>
          </a:prstGeom>
          <a:noFill/>
        </p:spPr>
        <p:txBody>
          <a:bodyPr wrap="square">
            <a:spAutoFit/>
          </a:bodyPr>
          <a:lstStyle/>
          <a:p>
            <a:pPr algn="l"/>
            <a:r>
              <a:rPr sz="900" b="0" i="0">
                <a:solidFill>
                  <a:srgbClr val="7E7684"/>
                </a:solidFill>
                <a:latin typeface="Calibri"/>
              </a:rPr>
              <a:t>15 tests</a:t>
            </a:r>
          </a:p>
        </p:txBody>
      </p:sp>
      <p:sp>
        <p:nvSpPr>
          <p:cNvPr id="15" name="Oval 14"/>
          <p:cNvSpPr/>
          <p:nvPr/>
        </p:nvSpPr>
        <p:spPr>
          <a:xfrm>
            <a:off x="594360" y="2112264"/>
            <a:ext cx="118872" cy="118872"/>
          </a:xfrm>
          <a:prstGeom prst="ellipse">
            <a:avLst/>
          </a:prstGeom>
          <a:solidFill>
            <a:srgbClr val="2BA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2048256"/>
            <a:ext cx="2926080" cy="292608"/>
          </a:xfrm>
          <a:prstGeom prst="rect">
            <a:avLst/>
          </a:prstGeom>
          <a:noFill/>
        </p:spPr>
        <p:txBody>
          <a:bodyPr wrap="square">
            <a:spAutoFit/>
          </a:bodyPr>
          <a:lstStyle/>
          <a:p>
            <a:pPr algn="l"/>
            <a:r>
              <a:rPr sz="1000" b="0" i="0">
                <a:solidFill>
                  <a:srgbClr val="332F3A"/>
                </a:solidFill>
                <a:latin typeface="Calibri"/>
              </a:rPr>
              <a:t>GitHub / Cloud / Slack Models</a:t>
            </a:r>
          </a:p>
        </p:txBody>
      </p:sp>
      <p:sp>
        <p:nvSpPr>
          <p:cNvPr id="17" name="TextBox 16"/>
          <p:cNvSpPr txBox="1"/>
          <p:nvPr/>
        </p:nvSpPr>
        <p:spPr>
          <a:xfrm>
            <a:off x="3840480" y="2048256"/>
            <a:ext cx="2286000" cy="292608"/>
          </a:xfrm>
          <a:prstGeom prst="rect">
            <a:avLst/>
          </a:prstGeom>
          <a:noFill/>
        </p:spPr>
        <p:txBody>
          <a:bodyPr wrap="square">
            <a:spAutoFit/>
          </a:bodyPr>
          <a:lstStyle/>
          <a:p>
            <a:pPr algn="l"/>
            <a:r>
              <a:rPr sz="900" b="1" i="0">
                <a:solidFill>
                  <a:srgbClr val="2BAE7B"/>
                </a:solidFill>
                <a:latin typeface="Calibri"/>
              </a:rPr>
              <a:t>Implemented (Models)</a:t>
            </a:r>
          </a:p>
        </p:txBody>
      </p:sp>
      <p:sp>
        <p:nvSpPr>
          <p:cNvPr id="18" name="TextBox 17"/>
          <p:cNvSpPr txBox="1"/>
          <p:nvPr/>
        </p:nvSpPr>
        <p:spPr>
          <a:xfrm>
            <a:off x="6400800" y="2048256"/>
            <a:ext cx="2286000" cy="292608"/>
          </a:xfrm>
          <a:prstGeom prst="rect">
            <a:avLst/>
          </a:prstGeom>
          <a:noFill/>
        </p:spPr>
        <p:txBody>
          <a:bodyPr wrap="square">
            <a:spAutoFit/>
          </a:bodyPr>
          <a:lstStyle/>
          <a:p>
            <a:pPr algn="l"/>
            <a:r>
              <a:rPr sz="900" b="0" i="0">
                <a:solidFill>
                  <a:srgbClr val="7E7684"/>
                </a:solidFill>
                <a:latin typeface="Calibri"/>
              </a:rPr>
              <a:t>State collection</a:t>
            </a:r>
          </a:p>
        </p:txBody>
      </p:sp>
      <p:sp>
        <p:nvSpPr>
          <p:cNvPr id="19" name="Oval 18"/>
          <p:cNvSpPr/>
          <p:nvPr/>
        </p:nvSpPr>
        <p:spPr>
          <a:xfrm>
            <a:off x="594360" y="2450591"/>
            <a:ext cx="118872" cy="118872"/>
          </a:xfrm>
          <a:prstGeom prst="ellipse">
            <a:avLst/>
          </a:prstGeom>
          <a:solidFill>
            <a:srgbClr val="2BA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960" y="2386584"/>
            <a:ext cx="2926080" cy="292608"/>
          </a:xfrm>
          <a:prstGeom prst="rect">
            <a:avLst/>
          </a:prstGeom>
          <a:noFill/>
        </p:spPr>
        <p:txBody>
          <a:bodyPr wrap="square">
            <a:spAutoFit/>
          </a:bodyPr>
          <a:lstStyle/>
          <a:p>
            <a:pPr algn="l"/>
            <a:r>
              <a:rPr sz="1000" b="0" i="0">
                <a:solidFill>
                  <a:srgbClr val="332F3A"/>
                </a:solidFill>
                <a:latin typeface="Calibri"/>
              </a:rPr>
              <a:t>JWT Authentication &amp; RBAC</a:t>
            </a:r>
          </a:p>
        </p:txBody>
      </p:sp>
      <p:sp>
        <p:nvSpPr>
          <p:cNvPr id="21" name="TextBox 20"/>
          <p:cNvSpPr txBox="1"/>
          <p:nvPr/>
        </p:nvSpPr>
        <p:spPr>
          <a:xfrm>
            <a:off x="3840480" y="2386584"/>
            <a:ext cx="2286000" cy="292608"/>
          </a:xfrm>
          <a:prstGeom prst="rect">
            <a:avLst/>
          </a:prstGeom>
          <a:noFill/>
        </p:spPr>
        <p:txBody>
          <a:bodyPr wrap="square">
            <a:spAutoFit/>
          </a:bodyPr>
          <a:lstStyle/>
          <a:p>
            <a:pPr algn="l"/>
            <a:r>
              <a:rPr sz="900" b="1" i="0">
                <a:solidFill>
                  <a:srgbClr val="2BAE7B"/>
                </a:solidFill>
                <a:latin typeface="Calibri"/>
              </a:rPr>
              <a:t>Implemented &amp; Verified</a:t>
            </a:r>
          </a:p>
        </p:txBody>
      </p:sp>
      <p:sp>
        <p:nvSpPr>
          <p:cNvPr id="22" name="TextBox 21"/>
          <p:cNvSpPr txBox="1"/>
          <p:nvPr/>
        </p:nvSpPr>
        <p:spPr>
          <a:xfrm>
            <a:off x="6400800" y="2386584"/>
            <a:ext cx="2286000" cy="292608"/>
          </a:xfrm>
          <a:prstGeom prst="rect">
            <a:avLst/>
          </a:prstGeom>
          <a:noFill/>
        </p:spPr>
        <p:txBody>
          <a:bodyPr wrap="square">
            <a:spAutoFit/>
          </a:bodyPr>
          <a:lstStyle/>
          <a:p>
            <a:pPr algn="l"/>
            <a:r>
              <a:rPr sz="900" b="0" i="0">
                <a:solidFill>
                  <a:srgbClr val="7E7684"/>
                </a:solidFill>
                <a:latin typeface="Calibri"/>
              </a:rPr>
              <a:t>3 roles</a:t>
            </a:r>
          </a:p>
        </p:txBody>
      </p:sp>
      <p:sp>
        <p:nvSpPr>
          <p:cNvPr id="23" name="Oval 22"/>
          <p:cNvSpPr/>
          <p:nvPr/>
        </p:nvSpPr>
        <p:spPr>
          <a:xfrm>
            <a:off x="594360" y="2788920"/>
            <a:ext cx="118872" cy="118872"/>
          </a:xfrm>
          <a:prstGeom prst="ellipse">
            <a:avLst/>
          </a:prstGeom>
          <a:solidFill>
            <a:srgbClr val="2BA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2960" y="2724912"/>
            <a:ext cx="2926080" cy="292608"/>
          </a:xfrm>
          <a:prstGeom prst="rect">
            <a:avLst/>
          </a:prstGeom>
          <a:noFill/>
        </p:spPr>
        <p:txBody>
          <a:bodyPr wrap="square">
            <a:spAutoFit/>
          </a:bodyPr>
          <a:lstStyle/>
          <a:p>
            <a:pPr algn="l"/>
            <a:r>
              <a:rPr sz="1000" b="0" i="0">
                <a:solidFill>
                  <a:srgbClr val="332F3A"/>
                </a:solidFill>
                <a:latin typeface="Calibri"/>
              </a:rPr>
              <a:t>Invariant Rule Engine</a:t>
            </a:r>
          </a:p>
        </p:txBody>
      </p:sp>
      <p:sp>
        <p:nvSpPr>
          <p:cNvPr id="25" name="TextBox 24"/>
          <p:cNvSpPr txBox="1"/>
          <p:nvPr/>
        </p:nvSpPr>
        <p:spPr>
          <a:xfrm>
            <a:off x="3840480" y="2724912"/>
            <a:ext cx="2286000" cy="292608"/>
          </a:xfrm>
          <a:prstGeom prst="rect">
            <a:avLst/>
          </a:prstGeom>
          <a:noFill/>
        </p:spPr>
        <p:txBody>
          <a:bodyPr wrap="square">
            <a:spAutoFit/>
          </a:bodyPr>
          <a:lstStyle/>
          <a:p>
            <a:pPr algn="l"/>
            <a:r>
              <a:rPr sz="900" b="1" i="0">
                <a:solidFill>
                  <a:srgbClr val="2BAE7B"/>
                </a:solidFill>
                <a:latin typeface="Calibri"/>
              </a:rPr>
              <a:t>Implemented &amp; Verified</a:t>
            </a:r>
          </a:p>
        </p:txBody>
      </p:sp>
      <p:sp>
        <p:nvSpPr>
          <p:cNvPr id="26" name="TextBox 25"/>
          <p:cNvSpPr txBox="1"/>
          <p:nvPr/>
        </p:nvSpPr>
        <p:spPr>
          <a:xfrm>
            <a:off x="6400800" y="2724912"/>
            <a:ext cx="2286000" cy="292608"/>
          </a:xfrm>
          <a:prstGeom prst="rect">
            <a:avLst/>
          </a:prstGeom>
          <a:noFill/>
        </p:spPr>
        <p:txBody>
          <a:bodyPr wrap="square">
            <a:spAutoFit/>
          </a:bodyPr>
          <a:lstStyle/>
          <a:p>
            <a:pPr algn="l"/>
            <a:r>
              <a:rPr sz="900" b="0" i="0">
                <a:solidFill>
                  <a:srgbClr val="7E7684"/>
                </a:solidFill>
                <a:latin typeface="Calibri"/>
              </a:rPr>
              <a:t>7 tests</a:t>
            </a:r>
          </a:p>
        </p:txBody>
      </p:sp>
      <p:sp>
        <p:nvSpPr>
          <p:cNvPr id="27" name="Oval 26"/>
          <p:cNvSpPr/>
          <p:nvPr/>
        </p:nvSpPr>
        <p:spPr>
          <a:xfrm>
            <a:off x="594360" y="3127248"/>
            <a:ext cx="118872" cy="118872"/>
          </a:xfrm>
          <a:prstGeom prst="ellipse">
            <a:avLst/>
          </a:prstGeom>
          <a:solidFill>
            <a:srgbClr val="2BA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2960" y="3063240"/>
            <a:ext cx="2926080" cy="292608"/>
          </a:xfrm>
          <a:prstGeom prst="rect">
            <a:avLst/>
          </a:prstGeom>
          <a:noFill/>
        </p:spPr>
        <p:txBody>
          <a:bodyPr wrap="square">
            <a:spAutoFit/>
          </a:bodyPr>
          <a:lstStyle/>
          <a:p>
            <a:pPr algn="l"/>
            <a:r>
              <a:rPr sz="1000" b="0" i="0">
                <a:solidFill>
                  <a:srgbClr val="332F3A"/>
                </a:solidFill>
                <a:latin typeface="Calibri"/>
              </a:rPr>
              <a:t>State Collection Layer</a:t>
            </a:r>
          </a:p>
        </p:txBody>
      </p:sp>
      <p:sp>
        <p:nvSpPr>
          <p:cNvPr id="29" name="TextBox 28"/>
          <p:cNvSpPr txBox="1"/>
          <p:nvPr/>
        </p:nvSpPr>
        <p:spPr>
          <a:xfrm>
            <a:off x="3840480" y="3063240"/>
            <a:ext cx="2286000" cy="292608"/>
          </a:xfrm>
          <a:prstGeom prst="rect">
            <a:avLst/>
          </a:prstGeom>
          <a:noFill/>
        </p:spPr>
        <p:txBody>
          <a:bodyPr wrap="square">
            <a:spAutoFit/>
          </a:bodyPr>
          <a:lstStyle/>
          <a:p>
            <a:pPr algn="l"/>
            <a:r>
              <a:rPr sz="900" b="1" i="0">
                <a:solidFill>
                  <a:srgbClr val="2BAE7B"/>
                </a:solidFill>
                <a:latin typeface="Calibri"/>
              </a:rPr>
              <a:t>Implemented &amp; Verified</a:t>
            </a:r>
          </a:p>
        </p:txBody>
      </p:sp>
      <p:sp>
        <p:nvSpPr>
          <p:cNvPr id="30" name="TextBox 29"/>
          <p:cNvSpPr txBox="1"/>
          <p:nvPr/>
        </p:nvSpPr>
        <p:spPr>
          <a:xfrm>
            <a:off x="6400800" y="3063240"/>
            <a:ext cx="2286000" cy="292608"/>
          </a:xfrm>
          <a:prstGeom prst="rect">
            <a:avLst/>
          </a:prstGeom>
          <a:noFill/>
        </p:spPr>
        <p:txBody>
          <a:bodyPr wrap="square">
            <a:spAutoFit/>
          </a:bodyPr>
          <a:lstStyle/>
          <a:p>
            <a:pPr algn="l"/>
            <a:r>
              <a:rPr sz="900" b="0" i="0">
                <a:solidFill>
                  <a:srgbClr val="7E7684"/>
                </a:solidFill>
                <a:latin typeface="Calibri"/>
              </a:rPr>
              <a:t>8 tests</a:t>
            </a:r>
          </a:p>
        </p:txBody>
      </p:sp>
      <p:sp>
        <p:nvSpPr>
          <p:cNvPr id="31" name="Oval 30"/>
          <p:cNvSpPr/>
          <p:nvPr/>
        </p:nvSpPr>
        <p:spPr>
          <a:xfrm>
            <a:off x="594360" y="3465575"/>
            <a:ext cx="118872" cy="118872"/>
          </a:xfrm>
          <a:prstGeom prst="ellipse">
            <a:avLst/>
          </a:prstGeom>
          <a:solidFill>
            <a:srgbClr val="2BA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22960" y="3401568"/>
            <a:ext cx="2926080" cy="292608"/>
          </a:xfrm>
          <a:prstGeom prst="rect">
            <a:avLst/>
          </a:prstGeom>
          <a:noFill/>
        </p:spPr>
        <p:txBody>
          <a:bodyPr wrap="square">
            <a:spAutoFit/>
          </a:bodyPr>
          <a:lstStyle/>
          <a:p>
            <a:pPr algn="l"/>
            <a:r>
              <a:rPr sz="1000" b="0" i="0">
                <a:solidFill>
                  <a:srgbClr val="332F3A"/>
                </a:solidFill>
                <a:latin typeface="Calibri"/>
              </a:rPr>
              <a:t>Reconciliation / Drift Detection</a:t>
            </a:r>
          </a:p>
        </p:txBody>
      </p:sp>
      <p:sp>
        <p:nvSpPr>
          <p:cNvPr id="33" name="TextBox 32"/>
          <p:cNvSpPr txBox="1"/>
          <p:nvPr/>
        </p:nvSpPr>
        <p:spPr>
          <a:xfrm>
            <a:off x="3840480" y="3401568"/>
            <a:ext cx="2286000" cy="292608"/>
          </a:xfrm>
          <a:prstGeom prst="rect">
            <a:avLst/>
          </a:prstGeom>
          <a:noFill/>
        </p:spPr>
        <p:txBody>
          <a:bodyPr wrap="square">
            <a:spAutoFit/>
          </a:bodyPr>
          <a:lstStyle/>
          <a:p>
            <a:pPr algn="l"/>
            <a:r>
              <a:rPr sz="900" b="1" i="0">
                <a:solidFill>
                  <a:srgbClr val="2BAE7B"/>
                </a:solidFill>
                <a:latin typeface="Calibri"/>
              </a:rPr>
              <a:t>Implemented &amp; Verified</a:t>
            </a:r>
          </a:p>
        </p:txBody>
      </p:sp>
      <p:sp>
        <p:nvSpPr>
          <p:cNvPr id="34" name="TextBox 33"/>
          <p:cNvSpPr txBox="1"/>
          <p:nvPr/>
        </p:nvSpPr>
        <p:spPr>
          <a:xfrm>
            <a:off x="6400800" y="3401568"/>
            <a:ext cx="2286000" cy="292608"/>
          </a:xfrm>
          <a:prstGeom prst="rect">
            <a:avLst/>
          </a:prstGeom>
          <a:noFill/>
        </p:spPr>
        <p:txBody>
          <a:bodyPr wrap="square">
            <a:spAutoFit/>
          </a:bodyPr>
          <a:lstStyle/>
          <a:p>
            <a:pPr algn="l"/>
            <a:r>
              <a:rPr sz="900" b="0" i="0">
                <a:solidFill>
                  <a:srgbClr val="7E7684"/>
                </a:solidFill>
                <a:latin typeface="Calibri"/>
              </a:rPr>
              <a:t>Via engine</a:t>
            </a:r>
          </a:p>
        </p:txBody>
      </p:sp>
      <p:sp>
        <p:nvSpPr>
          <p:cNvPr id="35" name="Oval 34"/>
          <p:cNvSpPr/>
          <p:nvPr/>
        </p:nvSpPr>
        <p:spPr>
          <a:xfrm>
            <a:off x="594360" y="3803904"/>
            <a:ext cx="118872" cy="118872"/>
          </a:xfrm>
          <a:prstGeom prst="ellipse">
            <a:avLst/>
          </a:prstGeom>
          <a:solidFill>
            <a:srgbClr val="2BA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22960" y="3739896"/>
            <a:ext cx="2926080" cy="292608"/>
          </a:xfrm>
          <a:prstGeom prst="rect">
            <a:avLst/>
          </a:prstGeom>
          <a:noFill/>
        </p:spPr>
        <p:txBody>
          <a:bodyPr wrap="square">
            <a:spAutoFit/>
          </a:bodyPr>
          <a:lstStyle/>
          <a:p>
            <a:pPr algn="l"/>
            <a:r>
              <a:rPr sz="1000" b="0" i="0">
                <a:solidFill>
                  <a:srgbClr val="332F3A"/>
                </a:solidFill>
                <a:latin typeface="Calibri"/>
              </a:rPr>
              <a:t>Repair Planning &amp; Execution</a:t>
            </a:r>
          </a:p>
        </p:txBody>
      </p:sp>
      <p:sp>
        <p:nvSpPr>
          <p:cNvPr id="37" name="TextBox 36"/>
          <p:cNvSpPr txBox="1"/>
          <p:nvPr/>
        </p:nvSpPr>
        <p:spPr>
          <a:xfrm>
            <a:off x="3840480" y="3739896"/>
            <a:ext cx="2286000" cy="292608"/>
          </a:xfrm>
          <a:prstGeom prst="rect">
            <a:avLst/>
          </a:prstGeom>
          <a:noFill/>
        </p:spPr>
        <p:txBody>
          <a:bodyPr wrap="square">
            <a:spAutoFit/>
          </a:bodyPr>
          <a:lstStyle/>
          <a:p>
            <a:pPr algn="l"/>
            <a:r>
              <a:rPr sz="900" b="1" i="0">
                <a:solidFill>
                  <a:srgbClr val="2BAE7B"/>
                </a:solidFill>
                <a:latin typeface="Calibri"/>
              </a:rPr>
              <a:t>Implemented &amp; Verified</a:t>
            </a:r>
          </a:p>
        </p:txBody>
      </p:sp>
      <p:sp>
        <p:nvSpPr>
          <p:cNvPr id="38" name="TextBox 37"/>
          <p:cNvSpPr txBox="1"/>
          <p:nvPr/>
        </p:nvSpPr>
        <p:spPr>
          <a:xfrm>
            <a:off x="6400800" y="3739896"/>
            <a:ext cx="2286000" cy="292608"/>
          </a:xfrm>
          <a:prstGeom prst="rect">
            <a:avLst/>
          </a:prstGeom>
          <a:noFill/>
        </p:spPr>
        <p:txBody>
          <a:bodyPr wrap="square">
            <a:spAutoFit/>
          </a:bodyPr>
          <a:lstStyle/>
          <a:p>
            <a:pPr algn="l"/>
            <a:r>
              <a:rPr sz="900" b="0" i="0">
                <a:solidFill>
                  <a:srgbClr val="7E7684"/>
                </a:solidFill>
                <a:latin typeface="Calibri"/>
              </a:rPr>
              <a:t>36 tests</a:t>
            </a:r>
          </a:p>
        </p:txBody>
      </p:sp>
      <p:sp>
        <p:nvSpPr>
          <p:cNvPr id="39" name="Oval 38"/>
          <p:cNvSpPr/>
          <p:nvPr/>
        </p:nvSpPr>
        <p:spPr>
          <a:xfrm>
            <a:off x="594360" y="4142232"/>
            <a:ext cx="118872" cy="118872"/>
          </a:xfrm>
          <a:prstGeom prst="ellipse">
            <a:avLst/>
          </a:prstGeom>
          <a:solidFill>
            <a:srgbClr val="2BA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22960" y="4078224"/>
            <a:ext cx="2926080" cy="292608"/>
          </a:xfrm>
          <a:prstGeom prst="rect">
            <a:avLst/>
          </a:prstGeom>
          <a:noFill/>
        </p:spPr>
        <p:txBody>
          <a:bodyPr wrap="square">
            <a:spAutoFit/>
          </a:bodyPr>
          <a:lstStyle/>
          <a:p>
            <a:pPr algn="l"/>
            <a:r>
              <a:rPr sz="1000" b="0" i="0">
                <a:solidFill>
                  <a:srgbClr val="332F3A"/>
                </a:solidFill>
                <a:latin typeface="Calibri"/>
              </a:rPr>
              <a:t>Human Approval Workflows</a:t>
            </a:r>
          </a:p>
        </p:txBody>
      </p:sp>
      <p:sp>
        <p:nvSpPr>
          <p:cNvPr id="41" name="TextBox 40"/>
          <p:cNvSpPr txBox="1"/>
          <p:nvPr/>
        </p:nvSpPr>
        <p:spPr>
          <a:xfrm>
            <a:off x="3840480" y="4078224"/>
            <a:ext cx="2286000" cy="292608"/>
          </a:xfrm>
          <a:prstGeom prst="rect">
            <a:avLst/>
          </a:prstGeom>
          <a:noFill/>
        </p:spPr>
        <p:txBody>
          <a:bodyPr wrap="square">
            <a:spAutoFit/>
          </a:bodyPr>
          <a:lstStyle/>
          <a:p>
            <a:pPr algn="l"/>
            <a:r>
              <a:rPr sz="900" b="1" i="0">
                <a:solidFill>
                  <a:srgbClr val="2BAE7B"/>
                </a:solidFill>
                <a:latin typeface="Calibri"/>
              </a:rPr>
              <a:t>Implemented &amp; Verified</a:t>
            </a:r>
          </a:p>
        </p:txBody>
      </p:sp>
      <p:sp>
        <p:nvSpPr>
          <p:cNvPr id="42" name="TextBox 41"/>
          <p:cNvSpPr txBox="1"/>
          <p:nvPr/>
        </p:nvSpPr>
        <p:spPr>
          <a:xfrm>
            <a:off x="6400800" y="4078224"/>
            <a:ext cx="2286000" cy="292608"/>
          </a:xfrm>
          <a:prstGeom prst="rect">
            <a:avLst/>
          </a:prstGeom>
          <a:noFill/>
        </p:spPr>
        <p:txBody>
          <a:bodyPr wrap="square">
            <a:spAutoFit/>
          </a:bodyPr>
          <a:lstStyle/>
          <a:p>
            <a:pPr algn="l"/>
            <a:r>
              <a:rPr sz="900" b="0" i="0">
                <a:solidFill>
                  <a:srgbClr val="7E7684"/>
                </a:solidFill>
                <a:latin typeface="Calibri"/>
              </a:rPr>
              <a:t>6 tests</a:t>
            </a:r>
          </a:p>
        </p:txBody>
      </p:sp>
      <p:sp>
        <p:nvSpPr>
          <p:cNvPr id="43" name="Oval 42"/>
          <p:cNvSpPr/>
          <p:nvPr/>
        </p:nvSpPr>
        <p:spPr>
          <a:xfrm>
            <a:off x="594360" y="4480560"/>
            <a:ext cx="118872" cy="118872"/>
          </a:xfrm>
          <a:prstGeom prst="ellipse">
            <a:avLst/>
          </a:prstGeom>
          <a:solidFill>
            <a:srgbClr val="2BA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22960" y="4416552"/>
            <a:ext cx="2926080" cy="292608"/>
          </a:xfrm>
          <a:prstGeom prst="rect">
            <a:avLst/>
          </a:prstGeom>
          <a:noFill/>
        </p:spPr>
        <p:txBody>
          <a:bodyPr wrap="square">
            <a:spAutoFit/>
          </a:bodyPr>
          <a:lstStyle/>
          <a:p>
            <a:pPr algn="l"/>
            <a:r>
              <a:rPr sz="1000" b="0" i="0">
                <a:solidFill>
                  <a:srgbClr val="332F3A"/>
                </a:solidFill>
                <a:latin typeface="Calibri"/>
              </a:rPr>
              <a:t>Tamper-Evident Audit Trail</a:t>
            </a:r>
          </a:p>
        </p:txBody>
      </p:sp>
      <p:sp>
        <p:nvSpPr>
          <p:cNvPr id="45" name="TextBox 44"/>
          <p:cNvSpPr txBox="1"/>
          <p:nvPr/>
        </p:nvSpPr>
        <p:spPr>
          <a:xfrm>
            <a:off x="3840480" y="4416552"/>
            <a:ext cx="2286000" cy="292608"/>
          </a:xfrm>
          <a:prstGeom prst="rect">
            <a:avLst/>
          </a:prstGeom>
          <a:noFill/>
        </p:spPr>
        <p:txBody>
          <a:bodyPr wrap="square">
            <a:spAutoFit/>
          </a:bodyPr>
          <a:lstStyle/>
          <a:p>
            <a:pPr algn="l"/>
            <a:r>
              <a:rPr sz="900" b="1" i="0">
                <a:solidFill>
                  <a:srgbClr val="2BAE7B"/>
                </a:solidFill>
                <a:latin typeface="Calibri"/>
              </a:rPr>
              <a:t>Implemented &amp; Verified</a:t>
            </a:r>
          </a:p>
        </p:txBody>
      </p:sp>
      <p:sp>
        <p:nvSpPr>
          <p:cNvPr id="46" name="TextBox 45"/>
          <p:cNvSpPr txBox="1"/>
          <p:nvPr/>
        </p:nvSpPr>
        <p:spPr>
          <a:xfrm>
            <a:off x="6400800" y="4416552"/>
            <a:ext cx="2286000" cy="292608"/>
          </a:xfrm>
          <a:prstGeom prst="rect">
            <a:avLst/>
          </a:prstGeom>
          <a:noFill/>
        </p:spPr>
        <p:txBody>
          <a:bodyPr wrap="square">
            <a:spAutoFit/>
          </a:bodyPr>
          <a:lstStyle/>
          <a:p>
            <a:pPr algn="l"/>
            <a:r>
              <a:rPr sz="900" b="0" i="0">
                <a:solidFill>
                  <a:srgbClr val="7E7684"/>
                </a:solidFill>
                <a:latin typeface="Calibri"/>
              </a:rPr>
              <a:t>9 tests</a:t>
            </a:r>
          </a:p>
        </p:txBody>
      </p:sp>
      <p:sp>
        <p:nvSpPr>
          <p:cNvPr id="47" name="Oval 46"/>
          <p:cNvSpPr/>
          <p:nvPr/>
        </p:nvSpPr>
        <p:spPr>
          <a:xfrm>
            <a:off x="594360" y="4818888"/>
            <a:ext cx="118872" cy="118872"/>
          </a:xfrm>
          <a:prstGeom prst="ellipse">
            <a:avLst/>
          </a:prstGeom>
          <a:solidFill>
            <a:srgbClr val="2BA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22960" y="4754880"/>
            <a:ext cx="2926080" cy="292608"/>
          </a:xfrm>
          <a:prstGeom prst="rect">
            <a:avLst/>
          </a:prstGeom>
          <a:noFill/>
        </p:spPr>
        <p:txBody>
          <a:bodyPr wrap="square">
            <a:spAutoFit/>
          </a:bodyPr>
          <a:lstStyle/>
          <a:p>
            <a:pPr algn="l"/>
            <a:r>
              <a:rPr sz="1000" b="0" i="0">
                <a:solidFill>
                  <a:srgbClr val="332F3A"/>
                </a:solidFill>
                <a:latin typeface="Calibri"/>
              </a:rPr>
              <a:t>React Frontend (10 pages)</a:t>
            </a:r>
          </a:p>
        </p:txBody>
      </p:sp>
      <p:sp>
        <p:nvSpPr>
          <p:cNvPr id="49" name="TextBox 48"/>
          <p:cNvSpPr txBox="1"/>
          <p:nvPr/>
        </p:nvSpPr>
        <p:spPr>
          <a:xfrm>
            <a:off x="3840480" y="4754880"/>
            <a:ext cx="2286000" cy="292608"/>
          </a:xfrm>
          <a:prstGeom prst="rect">
            <a:avLst/>
          </a:prstGeom>
          <a:noFill/>
        </p:spPr>
        <p:txBody>
          <a:bodyPr wrap="square">
            <a:spAutoFit/>
          </a:bodyPr>
          <a:lstStyle/>
          <a:p>
            <a:pPr algn="l"/>
            <a:r>
              <a:rPr sz="900" b="1" i="0">
                <a:solidFill>
                  <a:srgbClr val="2BAE7B"/>
                </a:solidFill>
                <a:latin typeface="Calibri"/>
              </a:rPr>
              <a:t>Implemented</a:t>
            </a:r>
          </a:p>
        </p:txBody>
      </p:sp>
      <p:sp>
        <p:nvSpPr>
          <p:cNvPr id="50" name="TextBox 49"/>
          <p:cNvSpPr txBox="1"/>
          <p:nvPr/>
        </p:nvSpPr>
        <p:spPr>
          <a:xfrm>
            <a:off x="6400800" y="4754880"/>
            <a:ext cx="2286000" cy="292608"/>
          </a:xfrm>
          <a:prstGeom prst="rect">
            <a:avLst/>
          </a:prstGeom>
          <a:noFill/>
        </p:spPr>
        <p:txBody>
          <a:bodyPr wrap="square">
            <a:spAutoFit/>
          </a:bodyPr>
          <a:lstStyle/>
          <a:p>
            <a:pPr algn="l"/>
            <a:r>
              <a:rPr sz="900" b="0" i="0">
                <a:solidFill>
                  <a:srgbClr val="7E7684"/>
                </a:solidFill>
                <a:latin typeface="Calibri"/>
              </a:rPr>
              <a:t>API-wired</a:t>
            </a:r>
          </a:p>
        </p:txBody>
      </p:sp>
      <p:sp>
        <p:nvSpPr>
          <p:cNvPr id="51" name="Oval 50"/>
          <p:cNvSpPr/>
          <p:nvPr/>
        </p:nvSpPr>
        <p:spPr>
          <a:xfrm>
            <a:off x="594360" y="5157216"/>
            <a:ext cx="118872" cy="118872"/>
          </a:xfrm>
          <a:prstGeom prst="ellipse">
            <a:avLst/>
          </a:prstGeom>
          <a:solidFill>
            <a:srgbClr val="D98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22960" y="5093208"/>
            <a:ext cx="2926080" cy="292608"/>
          </a:xfrm>
          <a:prstGeom prst="rect">
            <a:avLst/>
          </a:prstGeom>
          <a:noFill/>
        </p:spPr>
        <p:txBody>
          <a:bodyPr wrap="square">
            <a:spAutoFit/>
          </a:bodyPr>
          <a:lstStyle/>
          <a:p>
            <a:pPr algn="l"/>
            <a:r>
              <a:rPr sz="1000" b="0" i="0">
                <a:solidFill>
                  <a:srgbClr val="332F3A"/>
                </a:solidFill>
                <a:latin typeface="Calibri"/>
              </a:rPr>
              <a:t>Continuous Background Scheduling</a:t>
            </a:r>
          </a:p>
        </p:txBody>
      </p:sp>
      <p:sp>
        <p:nvSpPr>
          <p:cNvPr id="53" name="TextBox 52"/>
          <p:cNvSpPr txBox="1"/>
          <p:nvPr/>
        </p:nvSpPr>
        <p:spPr>
          <a:xfrm>
            <a:off x="3840480" y="5093208"/>
            <a:ext cx="2286000" cy="292608"/>
          </a:xfrm>
          <a:prstGeom prst="rect">
            <a:avLst/>
          </a:prstGeom>
          <a:noFill/>
        </p:spPr>
        <p:txBody>
          <a:bodyPr wrap="square">
            <a:spAutoFit/>
          </a:bodyPr>
          <a:lstStyle/>
          <a:p>
            <a:pPr algn="l"/>
            <a:r>
              <a:rPr sz="900" b="1" i="0">
                <a:solidFill>
                  <a:srgbClr val="D98C2B"/>
                </a:solidFill>
                <a:latin typeface="Calibri"/>
              </a:rPr>
              <a:t>Not Implemented</a:t>
            </a:r>
          </a:p>
        </p:txBody>
      </p:sp>
      <p:sp>
        <p:nvSpPr>
          <p:cNvPr id="54" name="TextBox 53"/>
          <p:cNvSpPr txBox="1"/>
          <p:nvPr/>
        </p:nvSpPr>
        <p:spPr>
          <a:xfrm>
            <a:off x="6400800" y="5093208"/>
            <a:ext cx="2286000" cy="292608"/>
          </a:xfrm>
          <a:prstGeom prst="rect">
            <a:avLst/>
          </a:prstGeom>
          <a:noFill/>
        </p:spPr>
        <p:txBody>
          <a:bodyPr wrap="square">
            <a:spAutoFit/>
          </a:bodyPr>
          <a:lstStyle/>
          <a:p>
            <a:pPr algn="l"/>
            <a:r>
              <a:rPr sz="900" b="0" i="0">
                <a:solidFill>
                  <a:srgbClr val="7E7684"/>
                </a:solidFill>
                <a:latin typeface="Calibri"/>
              </a:rPr>
              <a:t>Celery planned</a:t>
            </a:r>
          </a:p>
        </p:txBody>
      </p:sp>
      <p:sp>
        <p:nvSpPr>
          <p:cNvPr id="55" name="Oval 54"/>
          <p:cNvSpPr/>
          <p:nvPr/>
        </p:nvSpPr>
        <p:spPr>
          <a:xfrm>
            <a:off x="594360" y="5495544"/>
            <a:ext cx="118872" cy="118872"/>
          </a:xfrm>
          <a:prstGeom prst="ellipse">
            <a:avLst/>
          </a:prstGeom>
          <a:solidFill>
            <a:srgbClr val="D98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22960" y="5431536"/>
            <a:ext cx="2926080" cy="292608"/>
          </a:xfrm>
          <a:prstGeom prst="rect">
            <a:avLst/>
          </a:prstGeom>
          <a:noFill/>
        </p:spPr>
        <p:txBody>
          <a:bodyPr wrap="square">
            <a:spAutoFit/>
          </a:bodyPr>
          <a:lstStyle/>
          <a:p>
            <a:pPr algn="l"/>
            <a:r>
              <a:rPr sz="1000" b="0" i="0">
                <a:solidFill>
                  <a:srgbClr val="332F3A"/>
                </a:solidFill>
                <a:latin typeface="Calibri"/>
              </a:rPr>
              <a:t>Production Deployment</a:t>
            </a:r>
          </a:p>
        </p:txBody>
      </p:sp>
      <p:sp>
        <p:nvSpPr>
          <p:cNvPr id="57" name="TextBox 56"/>
          <p:cNvSpPr txBox="1"/>
          <p:nvPr/>
        </p:nvSpPr>
        <p:spPr>
          <a:xfrm>
            <a:off x="3840480" y="5431536"/>
            <a:ext cx="2286000" cy="292608"/>
          </a:xfrm>
          <a:prstGeom prst="rect">
            <a:avLst/>
          </a:prstGeom>
          <a:noFill/>
        </p:spPr>
        <p:txBody>
          <a:bodyPr wrap="square">
            <a:spAutoFit/>
          </a:bodyPr>
          <a:lstStyle/>
          <a:p>
            <a:pPr algn="l"/>
            <a:r>
              <a:rPr sz="900" b="1" i="0">
                <a:solidFill>
                  <a:srgbClr val="D98C2B"/>
                </a:solidFill>
                <a:latin typeface="Calibri"/>
              </a:rPr>
              <a:t>Not Implemented</a:t>
            </a:r>
          </a:p>
        </p:txBody>
      </p:sp>
      <p:sp>
        <p:nvSpPr>
          <p:cNvPr id="58" name="TextBox 57"/>
          <p:cNvSpPr txBox="1"/>
          <p:nvPr/>
        </p:nvSpPr>
        <p:spPr>
          <a:xfrm>
            <a:off x="6400800" y="5431536"/>
            <a:ext cx="2286000" cy="292608"/>
          </a:xfrm>
          <a:prstGeom prst="rect">
            <a:avLst/>
          </a:prstGeom>
          <a:noFill/>
        </p:spPr>
        <p:txBody>
          <a:bodyPr wrap="square">
            <a:spAutoFit/>
          </a:bodyPr>
          <a:lstStyle/>
          <a:p>
            <a:pPr algn="l"/>
            <a:r>
              <a:rPr sz="900" b="0" i="0">
                <a:solidFill>
                  <a:srgbClr val="7E7684"/>
                </a:solidFill>
                <a:latin typeface="Calibri"/>
              </a:rPr>
              <a:t>Docker planned</a:t>
            </a:r>
          </a:p>
        </p:txBody>
      </p:sp>
      <p:sp>
        <p:nvSpPr>
          <p:cNvPr id="59" name="Rounded Rectangle 58"/>
          <p:cNvSpPr/>
          <p:nvPr/>
        </p:nvSpPr>
        <p:spPr>
          <a:xfrm>
            <a:off x="457200" y="5486400"/>
            <a:ext cx="8229600" cy="640080"/>
          </a:xfrm>
          <a:prstGeom prst="roundRect">
            <a:avLst>
              <a:gd name="adj" fmla="val 5000"/>
            </a:avLst>
          </a:prstGeom>
          <a:solidFill>
            <a:srgbClr val="FFFDF9"/>
          </a:solidFill>
          <a:ln w="12700">
            <a:solidFill>
              <a:srgbClr val="DED5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i="0">
                <a:solidFill>
                  <a:srgbClr val="7865A5"/>
                </a:solidFill>
                <a:latin typeface="Calibri"/>
              </a:rPr>
              <a:t>Priority Remaining Work: </a:t>
            </a:r>
            <a:r>
              <a:rPr sz="1000" b="0" i="0">
                <a:solidFill>
                  <a:srgbClr val="595260"/>
                </a:solidFill>
                <a:latin typeface="Calibri"/>
              </a:rPr>
              <a:t>Celery/Redis async task queue for continuous scheduled reconciliation · Docker/Kubernetes deployment manifests · Fine-grained per-role DRF permission classes · Real external system connector integrations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C4B398"/>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
          </a:xfrm>
          <a:prstGeom prst="rect">
            <a:avLst/>
          </a:prstGeom>
          <a:solidFill>
            <a:srgbClr val="786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7772400" cy="640080"/>
          </a:xfrm>
          <a:prstGeom prst="rect">
            <a:avLst/>
          </a:prstGeom>
          <a:noFill/>
        </p:spPr>
        <p:txBody>
          <a:bodyPr wrap="square">
            <a:spAutoFit/>
          </a:bodyPr>
          <a:lstStyle/>
          <a:p>
            <a:pPr algn="l"/>
            <a:r>
              <a:rPr sz="2600" b="1" i="0">
                <a:solidFill>
                  <a:srgbClr val="FFFFFF"/>
                </a:solidFill>
                <a:latin typeface="Calibri"/>
              </a:rPr>
              <a:t>Conclusion &amp; Next Steps</a:t>
            </a:r>
          </a:p>
        </p:txBody>
      </p:sp>
      <p:sp>
        <p:nvSpPr>
          <p:cNvPr id="4" name="Rounded Rectangle 3"/>
          <p:cNvSpPr/>
          <p:nvPr/>
        </p:nvSpPr>
        <p:spPr>
          <a:xfrm>
            <a:off x="457200" y="1371600"/>
            <a:ext cx="8229600" cy="2286000"/>
          </a:xfrm>
          <a:prstGeom prst="roundRect">
            <a:avLst>
              <a:gd name="adj" fmla="val 5000"/>
            </a:avLst>
          </a:prstGeom>
          <a:solidFill>
            <a:srgbClr val="FFFDF9"/>
          </a:solidFill>
          <a:ln w="12700">
            <a:solidFill>
              <a:srgbClr val="DED5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i="0" dirty="0">
                <a:solidFill>
                  <a:srgbClr val="7865A5"/>
                </a:solidFill>
                <a:latin typeface="Calibri"/>
              </a:rPr>
              <a:t>What </a:t>
            </a:r>
            <a:r>
              <a:rPr sz="1600" b="1" i="0" dirty="0" err="1">
                <a:solidFill>
                  <a:srgbClr val="7865A5"/>
                </a:solidFill>
                <a:latin typeface="Calibri"/>
              </a:rPr>
              <a:t>ReconcileOS</a:t>
            </a:r>
            <a:r>
              <a:rPr sz="1600" b="1" i="0" dirty="0">
                <a:solidFill>
                  <a:srgbClr val="7865A5"/>
                </a:solidFill>
                <a:latin typeface="Calibri"/>
              </a:rPr>
              <a:t> Demonstrates</a:t>
            </a:r>
          </a:p>
          <a:p>
            <a:pPr>
              <a:spcBef>
                <a:spcPts val="500"/>
              </a:spcBef>
            </a:pPr>
            <a:r>
              <a:rPr sz="1200" b="0" i="0" dirty="0">
                <a:solidFill>
                  <a:srgbClr val="332F3A"/>
                </a:solidFill>
                <a:latin typeface="Calibri"/>
              </a:rPr>
              <a:t>▸ Authorization drift is a real enterprise security problem. </a:t>
            </a:r>
            <a:r>
              <a:rPr sz="1200" b="0" i="0" dirty="0" err="1">
                <a:solidFill>
                  <a:srgbClr val="332F3A"/>
                </a:solidFill>
                <a:latin typeface="Calibri"/>
              </a:rPr>
              <a:t>ReconcileOS</a:t>
            </a:r>
            <a:r>
              <a:rPr sz="1200" b="0" i="0" dirty="0">
                <a:solidFill>
                  <a:srgbClr val="332F3A"/>
                </a:solidFill>
                <a:latin typeface="Calibri"/>
              </a:rPr>
              <a:t> addresses it with continuous reconciliation rather than one-time scripts.</a:t>
            </a:r>
          </a:p>
          <a:p>
            <a:pPr>
              <a:spcBef>
                <a:spcPts val="500"/>
              </a:spcBef>
            </a:pPr>
            <a:r>
              <a:rPr sz="1200" b="0" i="0" dirty="0">
                <a:solidFill>
                  <a:srgbClr val="332F3A"/>
                </a:solidFill>
                <a:latin typeface="Calibri"/>
              </a:rPr>
              <a:t>▸ A modular Django backend with 8 domain-specific apps implements the full pipeline from HR change detection through drift identification, repair planning, human approval, execution, and verification.</a:t>
            </a:r>
          </a:p>
          <a:p>
            <a:pPr>
              <a:spcBef>
                <a:spcPts val="500"/>
              </a:spcBef>
            </a:pPr>
            <a:r>
              <a:rPr sz="1200" b="0" i="0" dirty="0">
                <a:solidFill>
                  <a:srgbClr val="332F3A"/>
                </a:solidFill>
                <a:latin typeface="Calibri"/>
              </a:rPr>
              <a:t>▸ 118 automated tests verify the complete lifecycle — including a 10-step end-to-end integration test from employee termination to audit chain verification.</a:t>
            </a:r>
          </a:p>
          <a:p>
            <a:pPr>
              <a:spcBef>
                <a:spcPts val="500"/>
              </a:spcBef>
            </a:pPr>
            <a:r>
              <a:rPr sz="1200" b="0" i="0" dirty="0">
                <a:solidFill>
                  <a:srgbClr val="332F3A"/>
                </a:solidFill>
                <a:latin typeface="Calibri"/>
              </a:rPr>
              <a:t>▸ A React-based dashboard provides real-time visibility into system state, violations, and remediation progress, wired to live API data.</a:t>
            </a:r>
          </a:p>
          <a:p>
            <a:pPr>
              <a:spcBef>
                <a:spcPts val="500"/>
              </a:spcBef>
            </a:pPr>
            <a:r>
              <a:rPr sz="1200" b="0" i="0" dirty="0">
                <a:solidFill>
                  <a:srgbClr val="332F3A"/>
                </a:solidFill>
                <a:latin typeface="Calibri"/>
              </a:rPr>
              <a:t>▸ The SHA-256 cryptographic audit trail provides tamper-evident compliance records for every system decision.</a:t>
            </a:r>
          </a:p>
        </p:txBody>
      </p:sp>
      <p:sp>
        <p:nvSpPr>
          <p:cNvPr id="5" name="Rounded Rectangle 4"/>
          <p:cNvSpPr/>
          <p:nvPr/>
        </p:nvSpPr>
        <p:spPr>
          <a:xfrm>
            <a:off x="457200" y="3931920"/>
            <a:ext cx="8229600" cy="1645920"/>
          </a:xfrm>
          <a:prstGeom prst="roundRect">
            <a:avLst>
              <a:gd name="adj" fmla="val 5000"/>
            </a:avLst>
          </a:prstGeom>
          <a:solidFill>
            <a:srgbClr val="FFFDF9"/>
          </a:solidFill>
          <a:ln w="12700">
            <a:solidFill>
              <a:srgbClr val="DED5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b="1" i="0" dirty="0">
                <a:solidFill>
                  <a:srgbClr val="7865A5"/>
                </a:solidFill>
                <a:latin typeface="Calibri"/>
              </a:rPr>
              <a:t>Next Development Milestone</a:t>
            </a:r>
          </a:p>
          <a:p>
            <a:pPr>
              <a:spcBef>
                <a:spcPts val="400"/>
              </a:spcBef>
            </a:pPr>
            <a:r>
              <a:rPr sz="1400" b="0" i="0" dirty="0">
                <a:solidFill>
                  <a:srgbClr val="595260"/>
                </a:solidFill>
                <a:latin typeface="Calibri"/>
              </a:rPr>
              <a:t>▸ Celery + Redis integration for continuous background reconciliation scheduling (periodic automated drift scans).</a:t>
            </a:r>
          </a:p>
          <a:p>
            <a:pPr>
              <a:spcBef>
                <a:spcPts val="400"/>
              </a:spcBef>
            </a:pPr>
            <a:r>
              <a:rPr sz="1400" b="0" i="0" dirty="0">
                <a:solidFill>
                  <a:srgbClr val="595260"/>
                </a:solidFill>
                <a:latin typeface="Calibri"/>
              </a:rPr>
              <a:t>▸ Fine-grained DRF permission classes enforcing per-role API access at the backend level.</a:t>
            </a:r>
          </a:p>
          <a:p>
            <a:pPr>
              <a:spcBef>
                <a:spcPts val="400"/>
              </a:spcBef>
            </a:pPr>
            <a:r>
              <a:rPr sz="1400" b="0" i="0" dirty="0">
                <a:solidFill>
                  <a:srgbClr val="595260"/>
                </a:solidFill>
                <a:latin typeface="Calibri"/>
              </a:rPr>
              <a:t>▸ Production deployment with Docker containers and environment-based configuration.</a:t>
            </a:r>
          </a:p>
          <a:p>
            <a:pPr>
              <a:spcBef>
                <a:spcPts val="400"/>
              </a:spcBef>
            </a:pPr>
            <a:r>
              <a:rPr sz="1400" b="0" i="0" dirty="0">
                <a:solidFill>
                  <a:srgbClr val="595260"/>
                </a:solidFill>
                <a:latin typeface="Calibri"/>
              </a:rPr>
              <a:t>▸ Real external connector integrations replacing simulated adapters (VPN APIs, GitHub API, cloud IAM).</a:t>
            </a:r>
          </a:p>
        </p:txBody>
      </p:sp>
      <p:sp>
        <p:nvSpPr>
          <p:cNvPr id="6" name="TextBox 5"/>
          <p:cNvSpPr txBox="1"/>
          <p:nvPr/>
        </p:nvSpPr>
        <p:spPr>
          <a:xfrm>
            <a:off x="640080" y="5852160"/>
            <a:ext cx="7772400" cy="457200"/>
          </a:xfrm>
          <a:prstGeom prst="rect">
            <a:avLst/>
          </a:prstGeom>
          <a:noFill/>
        </p:spPr>
        <p:txBody>
          <a:bodyPr wrap="square">
            <a:spAutoFit/>
          </a:bodyPr>
          <a:lstStyle/>
          <a:p>
            <a:pPr algn="ctr"/>
            <a:r>
              <a:rPr sz="1400" b="1" i="0">
                <a:solidFill>
                  <a:srgbClr val="FFFFFF"/>
                </a:solidFill>
                <a:latin typeface="Calibri"/>
              </a:rPr>
              <a:t>ReconcileOS: Access that stays revoked. Automatically.</a:t>
            </a:r>
          </a:p>
        </p:txBody>
      </p:sp>
      <p:sp>
        <p:nvSpPr>
          <p:cNvPr id="7" name="Rectangle 6"/>
          <p:cNvSpPr/>
          <p:nvPr/>
        </p:nvSpPr>
        <p:spPr>
          <a:xfrm>
            <a:off x="0" y="6748272"/>
            <a:ext cx="9144000" cy="109728"/>
          </a:xfrm>
          <a:prstGeom prst="rect">
            <a:avLst/>
          </a:prstGeom>
          <a:solidFill>
            <a:srgbClr val="786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105</TotalTime>
  <Words>2676</Words>
  <Application>Microsoft Office PowerPoint</Application>
  <PresentationFormat>On-screen Show (4:3)</PresentationFormat>
  <Paragraphs>342</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Moumin Zaara</cp:lastModifiedBy>
  <cp:revision>2</cp:revision>
  <dcterms:created xsi:type="dcterms:W3CDTF">2013-01-27T09:14:16Z</dcterms:created>
  <dcterms:modified xsi:type="dcterms:W3CDTF">2026-10-10T10:09:19Z</dcterms:modified>
  <cp:category/>
</cp:coreProperties>
</file>